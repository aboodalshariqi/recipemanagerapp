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notesMasterIdLst>
    <p:notesMasterId r:id="rId21"/>
  </p:notesMasterIdLst>
  <p:handoutMasterIdLst>
    <p:handoutMasterId r:id="rId22"/>
  </p:handoutMasterIdLst>
  <p:sldIdLst>
    <p:sldId id="281" r:id="rId5"/>
    <p:sldId id="284" r:id="rId6"/>
    <p:sldId id="265" r:id="rId7"/>
    <p:sldId id="300" r:id="rId8"/>
    <p:sldId id="303" r:id="rId9"/>
    <p:sldId id="302" r:id="rId10"/>
    <p:sldId id="301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298" r:id="rId19"/>
    <p:sldId id="28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038" autoAdjust="0"/>
  </p:normalViewPr>
  <p:slideViewPr>
    <p:cSldViewPr snapToGrid="0">
      <p:cViewPr>
        <p:scale>
          <a:sx n="75" d="100"/>
          <a:sy n="75" d="100"/>
        </p:scale>
        <p:origin x="-2634" y="-17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18A901-0CCB-42A8-8EC2-B207BF37CC3F}" type="doc">
      <dgm:prSet loTypeId="urn:microsoft.com/office/officeart/2008/layout/LinedList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356F574-09EA-4E92-8FF0-178AF8B29786}">
      <dgm:prSet/>
      <dgm:spPr/>
      <dgm:t>
        <a:bodyPr/>
        <a:lstStyle/>
        <a:p>
          <a:r>
            <a:rPr lang="en-US" dirty="0"/>
            <a:t>Topic 1</a:t>
          </a:r>
        </a:p>
      </dgm:t>
    </dgm:pt>
    <dgm:pt modelId="{309E64C9-C3C6-4C41-B303-74F0BFA83E62}" type="parTrans" cxnId="{6FB092B8-04D2-41D0-8B95-5C2A3F9EF69B}">
      <dgm:prSet/>
      <dgm:spPr/>
      <dgm:t>
        <a:bodyPr/>
        <a:lstStyle/>
        <a:p>
          <a:endParaRPr lang="en-US"/>
        </a:p>
      </dgm:t>
    </dgm:pt>
    <dgm:pt modelId="{D629504F-A1F3-4C9B-9612-EA97E578F78F}" type="sibTrans" cxnId="{6FB092B8-04D2-41D0-8B95-5C2A3F9EF69B}">
      <dgm:prSet/>
      <dgm:spPr/>
      <dgm:t>
        <a:bodyPr/>
        <a:lstStyle/>
        <a:p>
          <a:endParaRPr lang="en-US"/>
        </a:p>
      </dgm:t>
    </dgm:pt>
    <dgm:pt modelId="{0C11733D-4C02-457F-B653-76E003EA8CAC}">
      <dgm:prSet/>
      <dgm:spPr/>
      <dgm:t>
        <a:bodyPr/>
        <a:lstStyle/>
        <a:p>
          <a:r>
            <a:rPr lang="en-US" dirty="0"/>
            <a:t>Topic 2</a:t>
          </a:r>
        </a:p>
      </dgm:t>
    </dgm:pt>
    <dgm:pt modelId="{76AF25DB-E26D-45E2-8F50-50DF54FDD1FA}" type="parTrans" cxnId="{F935E68F-9EA8-4681-9415-DA1201D08556}">
      <dgm:prSet/>
      <dgm:spPr/>
      <dgm:t>
        <a:bodyPr/>
        <a:lstStyle/>
        <a:p>
          <a:endParaRPr lang="en-US"/>
        </a:p>
      </dgm:t>
    </dgm:pt>
    <dgm:pt modelId="{F49BE172-4961-4F65-AA9F-D22CD2CEE54B}" type="sibTrans" cxnId="{F935E68F-9EA8-4681-9415-DA1201D08556}">
      <dgm:prSet/>
      <dgm:spPr/>
      <dgm:t>
        <a:bodyPr/>
        <a:lstStyle/>
        <a:p>
          <a:endParaRPr lang="en-US"/>
        </a:p>
      </dgm:t>
    </dgm:pt>
    <dgm:pt modelId="{CF5E73B9-F4D6-4F69-BE94-A9F0248B129D}">
      <dgm:prSet/>
      <dgm:spPr/>
      <dgm:t>
        <a:bodyPr/>
        <a:lstStyle/>
        <a:p>
          <a:r>
            <a:rPr lang="en-US" dirty="0"/>
            <a:t>Topic 3</a:t>
          </a:r>
        </a:p>
      </dgm:t>
    </dgm:pt>
    <dgm:pt modelId="{22C46E05-DDFA-4414-9139-8BB6F35433D1}" type="parTrans" cxnId="{0ECF6C8E-F053-4175-B7E4-2529DA251408}">
      <dgm:prSet/>
      <dgm:spPr/>
      <dgm:t>
        <a:bodyPr/>
        <a:lstStyle/>
        <a:p>
          <a:endParaRPr lang="en-US"/>
        </a:p>
      </dgm:t>
    </dgm:pt>
    <dgm:pt modelId="{B7ABC831-B8C8-40C0-A48E-133EFA114EE7}" type="sibTrans" cxnId="{0ECF6C8E-F053-4175-B7E4-2529DA251408}">
      <dgm:prSet/>
      <dgm:spPr/>
      <dgm:t>
        <a:bodyPr/>
        <a:lstStyle/>
        <a:p>
          <a:endParaRPr lang="en-US"/>
        </a:p>
      </dgm:t>
    </dgm:pt>
    <dgm:pt modelId="{775204D0-DBC2-423F-A5A5-96B9DAB6FDF4}">
      <dgm:prSet/>
      <dgm:spPr/>
      <dgm:t>
        <a:bodyPr/>
        <a:lstStyle/>
        <a:p>
          <a:r>
            <a:rPr lang="en-US" dirty="0"/>
            <a:t>Topic 4</a:t>
          </a:r>
        </a:p>
      </dgm:t>
    </dgm:pt>
    <dgm:pt modelId="{40268CD1-4080-49C8-B8A3-CE0CDE33989E}" type="parTrans" cxnId="{D2DCBE07-7486-49FE-86E7-793CC30915CC}">
      <dgm:prSet/>
      <dgm:spPr/>
      <dgm:t>
        <a:bodyPr/>
        <a:lstStyle/>
        <a:p>
          <a:endParaRPr lang="en-US"/>
        </a:p>
      </dgm:t>
    </dgm:pt>
    <dgm:pt modelId="{1A2B88CE-78BA-48FB-A392-ED2DA4520680}" type="sibTrans" cxnId="{D2DCBE07-7486-49FE-86E7-793CC30915CC}">
      <dgm:prSet/>
      <dgm:spPr/>
      <dgm:t>
        <a:bodyPr/>
        <a:lstStyle/>
        <a:p>
          <a:endParaRPr lang="en-US"/>
        </a:p>
      </dgm:t>
    </dgm:pt>
    <dgm:pt modelId="{8751FCD6-8CF2-4131-8FD4-DEB244C4AFDC}">
      <dgm:prSet/>
      <dgm:spPr/>
      <dgm:t>
        <a:bodyPr/>
        <a:lstStyle/>
        <a:p>
          <a:r>
            <a:rPr lang="en-US" dirty="0"/>
            <a:t>Topic 5</a:t>
          </a:r>
        </a:p>
      </dgm:t>
    </dgm:pt>
    <dgm:pt modelId="{4BB0D04E-F3A0-4470-94CB-ABE7EC03BE47}" type="parTrans" cxnId="{E932D36F-8090-4ED1-8023-F8BD70900A1A}">
      <dgm:prSet/>
      <dgm:spPr/>
      <dgm:t>
        <a:bodyPr/>
        <a:lstStyle/>
        <a:p>
          <a:endParaRPr lang="en-US"/>
        </a:p>
      </dgm:t>
    </dgm:pt>
    <dgm:pt modelId="{E3F9CD97-1E22-44BB-9E5E-16C271821951}" type="sibTrans" cxnId="{E932D36F-8090-4ED1-8023-F8BD70900A1A}">
      <dgm:prSet/>
      <dgm:spPr/>
      <dgm:t>
        <a:bodyPr/>
        <a:lstStyle/>
        <a:p>
          <a:endParaRPr lang="en-US"/>
        </a:p>
      </dgm:t>
    </dgm:pt>
    <dgm:pt modelId="{88842A70-C817-4F7B-8EEB-0DB9E81CBFB4}">
      <dgm:prSet/>
      <dgm:spPr/>
      <dgm:t>
        <a:bodyPr/>
        <a:lstStyle/>
        <a:p>
          <a:r>
            <a:rPr lang="en-US" dirty="0"/>
            <a:t>Topic 7</a:t>
          </a:r>
        </a:p>
      </dgm:t>
    </dgm:pt>
    <dgm:pt modelId="{FCBCE581-2019-414F-8382-158389C21CDA}" type="parTrans" cxnId="{CFF8B09C-C026-468D-A491-C9FFDCBCDE04}">
      <dgm:prSet/>
      <dgm:spPr/>
      <dgm:t>
        <a:bodyPr/>
        <a:lstStyle/>
        <a:p>
          <a:endParaRPr lang="en-US"/>
        </a:p>
      </dgm:t>
    </dgm:pt>
    <dgm:pt modelId="{C977C41B-769B-4F83-8969-087EF8F823CB}" type="sibTrans" cxnId="{CFF8B09C-C026-468D-A491-C9FFDCBCDE04}">
      <dgm:prSet/>
      <dgm:spPr/>
      <dgm:t>
        <a:bodyPr/>
        <a:lstStyle/>
        <a:p>
          <a:endParaRPr lang="en-US"/>
        </a:p>
      </dgm:t>
    </dgm:pt>
    <dgm:pt modelId="{B9680EFE-9400-4412-9849-E44D6A559A79}">
      <dgm:prSet phldrT="[Text]" phldr="0"/>
      <dgm:spPr/>
      <dgm:t>
        <a:bodyPr/>
        <a:lstStyle/>
        <a:p>
          <a:r>
            <a:rPr lang="en-US" dirty="0"/>
            <a:t>Topic 6</a:t>
          </a:r>
        </a:p>
      </dgm:t>
    </dgm:pt>
    <dgm:pt modelId="{03D9F7F7-95E6-4BAB-81CB-6ABA024CCBDC}" type="parTrans" cxnId="{DDB2728A-44F0-4014-A126-AEDC1C295396}">
      <dgm:prSet/>
      <dgm:spPr/>
      <dgm:t>
        <a:bodyPr/>
        <a:lstStyle/>
        <a:p>
          <a:endParaRPr lang="en-US"/>
        </a:p>
      </dgm:t>
    </dgm:pt>
    <dgm:pt modelId="{3DECEB5D-EDF0-446D-B8B5-2D5693635635}" type="sibTrans" cxnId="{DDB2728A-44F0-4014-A126-AEDC1C295396}">
      <dgm:prSet/>
      <dgm:spPr/>
      <dgm:t>
        <a:bodyPr/>
        <a:lstStyle/>
        <a:p>
          <a:endParaRPr lang="en-US"/>
        </a:p>
      </dgm:t>
    </dgm:pt>
    <dgm:pt modelId="{E69897B1-D93E-428E-8B9A-1E034157A60E}" type="pres">
      <dgm:prSet presAssocID="{2518A901-0CCB-42A8-8EC2-B207BF37CC3F}" presName="vert0" presStyleCnt="0">
        <dgm:presLayoutVars>
          <dgm:dir/>
          <dgm:animOne val="branch"/>
          <dgm:animLvl val="lvl"/>
        </dgm:presLayoutVars>
      </dgm:prSet>
      <dgm:spPr/>
    </dgm:pt>
    <dgm:pt modelId="{E27AA3A6-5C77-42BB-84A4-44B498557E40}" type="pres">
      <dgm:prSet presAssocID="{2356F574-09EA-4E92-8FF0-178AF8B29786}" presName="thickLine" presStyleLbl="alignNode1" presStyleIdx="0" presStyleCnt="7"/>
      <dgm:spPr/>
    </dgm:pt>
    <dgm:pt modelId="{CBC0C078-D999-422A-B062-133C16B9190E}" type="pres">
      <dgm:prSet presAssocID="{2356F574-09EA-4E92-8FF0-178AF8B29786}" presName="horz1" presStyleCnt="0"/>
      <dgm:spPr/>
    </dgm:pt>
    <dgm:pt modelId="{14850B2D-6783-4D05-B8BB-AB69ABA60F31}" type="pres">
      <dgm:prSet presAssocID="{2356F574-09EA-4E92-8FF0-178AF8B29786}" presName="tx1" presStyleLbl="revTx" presStyleIdx="0" presStyleCnt="7"/>
      <dgm:spPr/>
    </dgm:pt>
    <dgm:pt modelId="{40A93351-856E-49FC-A6AB-BAC633E21584}" type="pres">
      <dgm:prSet presAssocID="{2356F574-09EA-4E92-8FF0-178AF8B29786}" presName="vert1" presStyleCnt="0"/>
      <dgm:spPr/>
    </dgm:pt>
    <dgm:pt modelId="{42410739-6684-485A-ABF9-9CB9FDA3A503}" type="pres">
      <dgm:prSet presAssocID="{0C11733D-4C02-457F-B653-76E003EA8CAC}" presName="thickLine" presStyleLbl="alignNode1" presStyleIdx="1" presStyleCnt="7"/>
      <dgm:spPr/>
    </dgm:pt>
    <dgm:pt modelId="{5F95AB23-0D7D-4A00-B46D-78911BE51A07}" type="pres">
      <dgm:prSet presAssocID="{0C11733D-4C02-457F-B653-76E003EA8CAC}" presName="horz1" presStyleCnt="0"/>
      <dgm:spPr/>
    </dgm:pt>
    <dgm:pt modelId="{A0EAF6AE-3449-4941-806D-3EE0143B7500}" type="pres">
      <dgm:prSet presAssocID="{0C11733D-4C02-457F-B653-76E003EA8CAC}" presName="tx1" presStyleLbl="revTx" presStyleIdx="1" presStyleCnt="7"/>
      <dgm:spPr/>
    </dgm:pt>
    <dgm:pt modelId="{2B069B6B-FB89-417A-9CB2-76D821D02281}" type="pres">
      <dgm:prSet presAssocID="{0C11733D-4C02-457F-B653-76E003EA8CAC}" presName="vert1" presStyleCnt="0"/>
      <dgm:spPr/>
    </dgm:pt>
    <dgm:pt modelId="{5712562F-9217-48F2-97EF-21ED04192EE9}" type="pres">
      <dgm:prSet presAssocID="{CF5E73B9-F4D6-4F69-BE94-A9F0248B129D}" presName="thickLine" presStyleLbl="alignNode1" presStyleIdx="2" presStyleCnt="7"/>
      <dgm:spPr/>
    </dgm:pt>
    <dgm:pt modelId="{48D376BF-3639-45FB-8243-D4C66F72AEC3}" type="pres">
      <dgm:prSet presAssocID="{CF5E73B9-F4D6-4F69-BE94-A9F0248B129D}" presName="horz1" presStyleCnt="0"/>
      <dgm:spPr/>
    </dgm:pt>
    <dgm:pt modelId="{0B0B0DB1-A8B2-4B59-AB1E-B9367FFE077F}" type="pres">
      <dgm:prSet presAssocID="{CF5E73B9-F4D6-4F69-BE94-A9F0248B129D}" presName="tx1" presStyleLbl="revTx" presStyleIdx="2" presStyleCnt="7"/>
      <dgm:spPr/>
    </dgm:pt>
    <dgm:pt modelId="{9858A649-78F6-411F-B918-95DB88558A48}" type="pres">
      <dgm:prSet presAssocID="{CF5E73B9-F4D6-4F69-BE94-A9F0248B129D}" presName="vert1" presStyleCnt="0"/>
      <dgm:spPr/>
    </dgm:pt>
    <dgm:pt modelId="{F78A4B7B-29CF-4B63-9370-ECD2E4514E3B}" type="pres">
      <dgm:prSet presAssocID="{775204D0-DBC2-423F-A5A5-96B9DAB6FDF4}" presName="thickLine" presStyleLbl="alignNode1" presStyleIdx="3" presStyleCnt="7"/>
      <dgm:spPr/>
    </dgm:pt>
    <dgm:pt modelId="{92B8D8D8-0287-4BF8-8734-CCDC7FF50B12}" type="pres">
      <dgm:prSet presAssocID="{775204D0-DBC2-423F-A5A5-96B9DAB6FDF4}" presName="horz1" presStyleCnt="0"/>
      <dgm:spPr/>
    </dgm:pt>
    <dgm:pt modelId="{DEE19A3E-BFAC-4925-B673-CB92D6460A37}" type="pres">
      <dgm:prSet presAssocID="{775204D0-DBC2-423F-A5A5-96B9DAB6FDF4}" presName="tx1" presStyleLbl="revTx" presStyleIdx="3" presStyleCnt="7"/>
      <dgm:spPr/>
    </dgm:pt>
    <dgm:pt modelId="{FC46B81C-CB66-4593-89E0-BC72DC0E23B2}" type="pres">
      <dgm:prSet presAssocID="{775204D0-DBC2-423F-A5A5-96B9DAB6FDF4}" presName="vert1" presStyleCnt="0"/>
      <dgm:spPr/>
    </dgm:pt>
    <dgm:pt modelId="{A85EF57A-4746-4C4B-8598-386089E41C8A}" type="pres">
      <dgm:prSet presAssocID="{8751FCD6-8CF2-4131-8FD4-DEB244C4AFDC}" presName="thickLine" presStyleLbl="alignNode1" presStyleIdx="4" presStyleCnt="7"/>
      <dgm:spPr/>
    </dgm:pt>
    <dgm:pt modelId="{A420549D-397A-4081-8883-95A1BAC1570F}" type="pres">
      <dgm:prSet presAssocID="{8751FCD6-8CF2-4131-8FD4-DEB244C4AFDC}" presName="horz1" presStyleCnt="0"/>
      <dgm:spPr/>
    </dgm:pt>
    <dgm:pt modelId="{96C5B2D3-640F-4CFF-9B89-A726560B1746}" type="pres">
      <dgm:prSet presAssocID="{8751FCD6-8CF2-4131-8FD4-DEB244C4AFDC}" presName="tx1" presStyleLbl="revTx" presStyleIdx="4" presStyleCnt="7"/>
      <dgm:spPr/>
    </dgm:pt>
    <dgm:pt modelId="{6DE95270-7354-477C-B618-53ABB1392927}" type="pres">
      <dgm:prSet presAssocID="{8751FCD6-8CF2-4131-8FD4-DEB244C4AFDC}" presName="vert1" presStyleCnt="0"/>
      <dgm:spPr/>
    </dgm:pt>
    <dgm:pt modelId="{5BE36933-A40E-40BC-81D6-625C0A0627B7}" type="pres">
      <dgm:prSet presAssocID="{B9680EFE-9400-4412-9849-E44D6A559A79}" presName="thickLine" presStyleLbl="alignNode1" presStyleIdx="5" presStyleCnt="7"/>
      <dgm:spPr/>
    </dgm:pt>
    <dgm:pt modelId="{F3CC0739-FC40-4E90-AF18-167588A7C2E3}" type="pres">
      <dgm:prSet presAssocID="{B9680EFE-9400-4412-9849-E44D6A559A79}" presName="horz1" presStyleCnt="0"/>
      <dgm:spPr/>
    </dgm:pt>
    <dgm:pt modelId="{25A64956-7ACA-4B11-AEA9-26D296BD3162}" type="pres">
      <dgm:prSet presAssocID="{B9680EFE-9400-4412-9849-E44D6A559A79}" presName="tx1" presStyleLbl="revTx" presStyleIdx="5" presStyleCnt="7"/>
      <dgm:spPr/>
    </dgm:pt>
    <dgm:pt modelId="{BC3EC033-159A-4942-B2A3-DEFD68639E77}" type="pres">
      <dgm:prSet presAssocID="{B9680EFE-9400-4412-9849-E44D6A559A79}" presName="vert1" presStyleCnt="0"/>
      <dgm:spPr/>
    </dgm:pt>
    <dgm:pt modelId="{8C86CB1D-0162-40AF-9CD2-E10E228448EA}" type="pres">
      <dgm:prSet presAssocID="{88842A70-C817-4F7B-8EEB-0DB9E81CBFB4}" presName="thickLine" presStyleLbl="alignNode1" presStyleIdx="6" presStyleCnt="7"/>
      <dgm:spPr/>
    </dgm:pt>
    <dgm:pt modelId="{2072804F-E340-4559-9DE4-F3DB7E483498}" type="pres">
      <dgm:prSet presAssocID="{88842A70-C817-4F7B-8EEB-0DB9E81CBFB4}" presName="horz1" presStyleCnt="0"/>
      <dgm:spPr/>
    </dgm:pt>
    <dgm:pt modelId="{25C33C94-32A7-4775-89D7-7619D1CD6393}" type="pres">
      <dgm:prSet presAssocID="{88842A70-C817-4F7B-8EEB-0DB9E81CBFB4}" presName="tx1" presStyleLbl="revTx" presStyleIdx="6" presStyleCnt="7"/>
      <dgm:spPr/>
    </dgm:pt>
    <dgm:pt modelId="{618EA57C-8463-43EA-AE5A-5C84DD92815D}" type="pres">
      <dgm:prSet presAssocID="{88842A70-C817-4F7B-8EEB-0DB9E81CBFB4}" presName="vert1" presStyleCnt="0"/>
      <dgm:spPr/>
    </dgm:pt>
  </dgm:ptLst>
  <dgm:cxnLst>
    <dgm:cxn modelId="{D2DCBE07-7486-49FE-86E7-793CC30915CC}" srcId="{2518A901-0CCB-42A8-8EC2-B207BF37CC3F}" destId="{775204D0-DBC2-423F-A5A5-96B9DAB6FDF4}" srcOrd="3" destOrd="0" parTransId="{40268CD1-4080-49C8-B8A3-CE0CDE33989E}" sibTransId="{1A2B88CE-78BA-48FB-A392-ED2DA4520680}"/>
    <dgm:cxn modelId="{6ED89E12-8C51-42BD-8B46-7142C993D83D}" type="presOf" srcId="{B9680EFE-9400-4412-9849-E44D6A559A79}" destId="{25A64956-7ACA-4B11-AEA9-26D296BD3162}" srcOrd="0" destOrd="0" presId="urn:microsoft.com/office/officeart/2008/layout/LinedList"/>
    <dgm:cxn modelId="{4647392F-83CF-4C42-AC1C-39DBF3A44D41}" type="presOf" srcId="{8751FCD6-8CF2-4131-8FD4-DEB244C4AFDC}" destId="{96C5B2D3-640F-4CFF-9B89-A726560B1746}" srcOrd="0" destOrd="0" presId="urn:microsoft.com/office/officeart/2008/layout/LinedList"/>
    <dgm:cxn modelId="{473D5D3B-736C-48A6-933F-100A0C6804A1}" type="presOf" srcId="{88842A70-C817-4F7B-8EEB-0DB9E81CBFB4}" destId="{25C33C94-32A7-4775-89D7-7619D1CD6393}" srcOrd="0" destOrd="0" presId="urn:microsoft.com/office/officeart/2008/layout/LinedList"/>
    <dgm:cxn modelId="{E932D36F-8090-4ED1-8023-F8BD70900A1A}" srcId="{2518A901-0CCB-42A8-8EC2-B207BF37CC3F}" destId="{8751FCD6-8CF2-4131-8FD4-DEB244C4AFDC}" srcOrd="4" destOrd="0" parTransId="{4BB0D04E-F3A0-4470-94CB-ABE7EC03BE47}" sibTransId="{E3F9CD97-1E22-44BB-9E5E-16C271821951}"/>
    <dgm:cxn modelId="{98AE4171-DB67-40D0-9D05-222D21BBD5BB}" type="presOf" srcId="{775204D0-DBC2-423F-A5A5-96B9DAB6FDF4}" destId="{DEE19A3E-BFAC-4925-B673-CB92D6460A37}" srcOrd="0" destOrd="0" presId="urn:microsoft.com/office/officeart/2008/layout/LinedList"/>
    <dgm:cxn modelId="{71427151-43C7-47A9-871D-E30C7C0100F8}" type="presOf" srcId="{CF5E73B9-F4D6-4F69-BE94-A9F0248B129D}" destId="{0B0B0DB1-A8B2-4B59-AB1E-B9367FFE077F}" srcOrd="0" destOrd="0" presId="urn:microsoft.com/office/officeart/2008/layout/LinedList"/>
    <dgm:cxn modelId="{DDB2728A-44F0-4014-A126-AEDC1C295396}" srcId="{2518A901-0CCB-42A8-8EC2-B207BF37CC3F}" destId="{B9680EFE-9400-4412-9849-E44D6A559A79}" srcOrd="5" destOrd="0" parTransId="{03D9F7F7-95E6-4BAB-81CB-6ABA024CCBDC}" sibTransId="{3DECEB5D-EDF0-446D-B8B5-2D5693635635}"/>
    <dgm:cxn modelId="{0ECF6C8E-F053-4175-B7E4-2529DA251408}" srcId="{2518A901-0CCB-42A8-8EC2-B207BF37CC3F}" destId="{CF5E73B9-F4D6-4F69-BE94-A9F0248B129D}" srcOrd="2" destOrd="0" parTransId="{22C46E05-DDFA-4414-9139-8BB6F35433D1}" sibTransId="{B7ABC831-B8C8-40C0-A48E-133EFA114EE7}"/>
    <dgm:cxn modelId="{F935E68F-9EA8-4681-9415-DA1201D08556}" srcId="{2518A901-0CCB-42A8-8EC2-B207BF37CC3F}" destId="{0C11733D-4C02-457F-B653-76E003EA8CAC}" srcOrd="1" destOrd="0" parTransId="{76AF25DB-E26D-45E2-8F50-50DF54FDD1FA}" sibTransId="{F49BE172-4961-4F65-AA9F-D22CD2CEE54B}"/>
    <dgm:cxn modelId="{CFF8B09C-C026-468D-A491-C9FFDCBCDE04}" srcId="{2518A901-0CCB-42A8-8EC2-B207BF37CC3F}" destId="{88842A70-C817-4F7B-8EEB-0DB9E81CBFB4}" srcOrd="6" destOrd="0" parTransId="{FCBCE581-2019-414F-8382-158389C21CDA}" sibTransId="{C977C41B-769B-4F83-8969-087EF8F823CB}"/>
    <dgm:cxn modelId="{6FB092B8-04D2-41D0-8B95-5C2A3F9EF69B}" srcId="{2518A901-0CCB-42A8-8EC2-B207BF37CC3F}" destId="{2356F574-09EA-4E92-8FF0-178AF8B29786}" srcOrd="0" destOrd="0" parTransId="{309E64C9-C3C6-4C41-B303-74F0BFA83E62}" sibTransId="{D629504F-A1F3-4C9B-9612-EA97E578F78F}"/>
    <dgm:cxn modelId="{D5357AD0-ABDA-4EA0-8E45-B72CBDC75758}" type="presOf" srcId="{0C11733D-4C02-457F-B653-76E003EA8CAC}" destId="{A0EAF6AE-3449-4941-806D-3EE0143B7500}" srcOrd="0" destOrd="0" presId="urn:microsoft.com/office/officeart/2008/layout/LinedList"/>
    <dgm:cxn modelId="{590201F0-EFD5-4B25-A982-A1CD3B3EB462}" type="presOf" srcId="{2356F574-09EA-4E92-8FF0-178AF8B29786}" destId="{14850B2D-6783-4D05-B8BB-AB69ABA60F31}" srcOrd="0" destOrd="0" presId="urn:microsoft.com/office/officeart/2008/layout/LinedList"/>
    <dgm:cxn modelId="{9D8A56F9-4F1B-4788-8002-189A2B8FD3BF}" type="presOf" srcId="{2518A901-0CCB-42A8-8EC2-B207BF37CC3F}" destId="{E69897B1-D93E-428E-8B9A-1E034157A60E}" srcOrd="0" destOrd="0" presId="urn:microsoft.com/office/officeart/2008/layout/LinedList"/>
    <dgm:cxn modelId="{3ADA50BD-D205-41E9-894C-6941101A3C70}" type="presParOf" srcId="{E69897B1-D93E-428E-8B9A-1E034157A60E}" destId="{E27AA3A6-5C77-42BB-84A4-44B498557E40}" srcOrd="0" destOrd="0" presId="urn:microsoft.com/office/officeart/2008/layout/LinedList"/>
    <dgm:cxn modelId="{3A49D9EA-0EA5-4423-AB09-97B21FA76485}" type="presParOf" srcId="{E69897B1-D93E-428E-8B9A-1E034157A60E}" destId="{CBC0C078-D999-422A-B062-133C16B9190E}" srcOrd="1" destOrd="0" presId="urn:microsoft.com/office/officeart/2008/layout/LinedList"/>
    <dgm:cxn modelId="{BDE7F9EA-D58A-45B3-8C38-E827BD0828AA}" type="presParOf" srcId="{CBC0C078-D999-422A-B062-133C16B9190E}" destId="{14850B2D-6783-4D05-B8BB-AB69ABA60F31}" srcOrd="0" destOrd="0" presId="urn:microsoft.com/office/officeart/2008/layout/LinedList"/>
    <dgm:cxn modelId="{143DFAD6-1C73-4A13-AF78-BA08D72628A8}" type="presParOf" srcId="{CBC0C078-D999-422A-B062-133C16B9190E}" destId="{40A93351-856E-49FC-A6AB-BAC633E21584}" srcOrd="1" destOrd="0" presId="urn:microsoft.com/office/officeart/2008/layout/LinedList"/>
    <dgm:cxn modelId="{E084F456-39C8-4C64-B824-4753D43CF79E}" type="presParOf" srcId="{E69897B1-D93E-428E-8B9A-1E034157A60E}" destId="{42410739-6684-485A-ABF9-9CB9FDA3A503}" srcOrd="2" destOrd="0" presId="urn:microsoft.com/office/officeart/2008/layout/LinedList"/>
    <dgm:cxn modelId="{B1C7097A-FC0F-4B76-B370-03B92730715B}" type="presParOf" srcId="{E69897B1-D93E-428E-8B9A-1E034157A60E}" destId="{5F95AB23-0D7D-4A00-B46D-78911BE51A07}" srcOrd="3" destOrd="0" presId="urn:microsoft.com/office/officeart/2008/layout/LinedList"/>
    <dgm:cxn modelId="{28D9D168-FFB7-4622-AB34-8275BAE413C6}" type="presParOf" srcId="{5F95AB23-0D7D-4A00-B46D-78911BE51A07}" destId="{A0EAF6AE-3449-4941-806D-3EE0143B7500}" srcOrd="0" destOrd="0" presId="urn:microsoft.com/office/officeart/2008/layout/LinedList"/>
    <dgm:cxn modelId="{346498E4-B3D0-4E41-8944-82DFF81B2FD6}" type="presParOf" srcId="{5F95AB23-0D7D-4A00-B46D-78911BE51A07}" destId="{2B069B6B-FB89-417A-9CB2-76D821D02281}" srcOrd="1" destOrd="0" presId="urn:microsoft.com/office/officeart/2008/layout/LinedList"/>
    <dgm:cxn modelId="{5FCCF6C8-DF43-40F2-A768-DC87CA3F7C36}" type="presParOf" srcId="{E69897B1-D93E-428E-8B9A-1E034157A60E}" destId="{5712562F-9217-48F2-97EF-21ED04192EE9}" srcOrd="4" destOrd="0" presId="urn:microsoft.com/office/officeart/2008/layout/LinedList"/>
    <dgm:cxn modelId="{AFA7425C-A4A8-4AFA-BB0F-1721650DC702}" type="presParOf" srcId="{E69897B1-D93E-428E-8B9A-1E034157A60E}" destId="{48D376BF-3639-45FB-8243-D4C66F72AEC3}" srcOrd="5" destOrd="0" presId="urn:microsoft.com/office/officeart/2008/layout/LinedList"/>
    <dgm:cxn modelId="{AA0AD317-C615-489B-A781-251EDDB17F58}" type="presParOf" srcId="{48D376BF-3639-45FB-8243-D4C66F72AEC3}" destId="{0B0B0DB1-A8B2-4B59-AB1E-B9367FFE077F}" srcOrd="0" destOrd="0" presId="urn:microsoft.com/office/officeart/2008/layout/LinedList"/>
    <dgm:cxn modelId="{71F17B70-AD4E-49FB-9EC1-2DCB75442955}" type="presParOf" srcId="{48D376BF-3639-45FB-8243-D4C66F72AEC3}" destId="{9858A649-78F6-411F-B918-95DB88558A48}" srcOrd="1" destOrd="0" presId="urn:microsoft.com/office/officeart/2008/layout/LinedList"/>
    <dgm:cxn modelId="{902B9CC7-F10D-437D-9162-22F2160D54C7}" type="presParOf" srcId="{E69897B1-D93E-428E-8B9A-1E034157A60E}" destId="{F78A4B7B-29CF-4B63-9370-ECD2E4514E3B}" srcOrd="6" destOrd="0" presId="urn:microsoft.com/office/officeart/2008/layout/LinedList"/>
    <dgm:cxn modelId="{65282F4C-DA84-42B9-9DED-1DEA5BCDD396}" type="presParOf" srcId="{E69897B1-D93E-428E-8B9A-1E034157A60E}" destId="{92B8D8D8-0287-4BF8-8734-CCDC7FF50B12}" srcOrd="7" destOrd="0" presId="urn:microsoft.com/office/officeart/2008/layout/LinedList"/>
    <dgm:cxn modelId="{C4127C79-DF29-4B8D-8122-F0465C0C5BE3}" type="presParOf" srcId="{92B8D8D8-0287-4BF8-8734-CCDC7FF50B12}" destId="{DEE19A3E-BFAC-4925-B673-CB92D6460A37}" srcOrd="0" destOrd="0" presId="urn:microsoft.com/office/officeart/2008/layout/LinedList"/>
    <dgm:cxn modelId="{A8CFB8D8-BF05-48C4-A71F-80FA446F0FED}" type="presParOf" srcId="{92B8D8D8-0287-4BF8-8734-CCDC7FF50B12}" destId="{FC46B81C-CB66-4593-89E0-BC72DC0E23B2}" srcOrd="1" destOrd="0" presId="urn:microsoft.com/office/officeart/2008/layout/LinedList"/>
    <dgm:cxn modelId="{B78C0F49-4381-4A05-A401-5ED24D4D0EF2}" type="presParOf" srcId="{E69897B1-D93E-428E-8B9A-1E034157A60E}" destId="{A85EF57A-4746-4C4B-8598-386089E41C8A}" srcOrd="8" destOrd="0" presId="urn:microsoft.com/office/officeart/2008/layout/LinedList"/>
    <dgm:cxn modelId="{A219BD0C-1EE3-43F5-B4CB-A8E477352386}" type="presParOf" srcId="{E69897B1-D93E-428E-8B9A-1E034157A60E}" destId="{A420549D-397A-4081-8883-95A1BAC1570F}" srcOrd="9" destOrd="0" presId="urn:microsoft.com/office/officeart/2008/layout/LinedList"/>
    <dgm:cxn modelId="{A12B98F2-03D9-4D70-8432-26B4662E0735}" type="presParOf" srcId="{A420549D-397A-4081-8883-95A1BAC1570F}" destId="{96C5B2D3-640F-4CFF-9B89-A726560B1746}" srcOrd="0" destOrd="0" presId="urn:microsoft.com/office/officeart/2008/layout/LinedList"/>
    <dgm:cxn modelId="{CAC86AA6-788A-42B4-9B67-0E6A4014745D}" type="presParOf" srcId="{A420549D-397A-4081-8883-95A1BAC1570F}" destId="{6DE95270-7354-477C-B618-53ABB1392927}" srcOrd="1" destOrd="0" presId="urn:microsoft.com/office/officeart/2008/layout/LinedList"/>
    <dgm:cxn modelId="{4D78C630-D7BE-453B-84B1-AC86434325CB}" type="presParOf" srcId="{E69897B1-D93E-428E-8B9A-1E034157A60E}" destId="{5BE36933-A40E-40BC-81D6-625C0A0627B7}" srcOrd="10" destOrd="0" presId="urn:microsoft.com/office/officeart/2008/layout/LinedList"/>
    <dgm:cxn modelId="{4487ED4A-70AA-418E-B7F1-DBD4142826C4}" type="presParOf" srcId="{E69897B1-D93E-428E-8B9A-1E034157A60E}" destId="{F3CC0739-FC40-4E90-AF18-167588A7C2E3}" srcOrd="11" destOrd="0" presId="urn:microsoft.com/office/officeart/2008/layout/LinedList"/>
    <dgm:cxn modelId="{DC7421FB-11F8-4FA3-9D17-1F993A7E31E3}" type="presParOf" srcId="{F3CC0739-FC40-4E90-AF18-167588A7C2E3}" destId="{25A64956-7ACA-4B11-AEA9-26D296BD3162}" srcOrd="0" destOrd="0" presId="urn:microsoft.com/office/officeart/2008/layout/LinedList"/>
    <dgm:cxn modelId="{839CA508-62AE-4711-BD14-C72A3C9D6B85}" type="presParOf" srcId="{F3CC0739-FC40-4E90-AF18-167588A7C2E3}" destId="{BC3EC033-159A-4942-B2A3-DEFD68639E77}" srcOrd="1" destOrd="0" presId="urn:microsoft.com/office/officeart/2008/layout/LinedList"/>
    <dgm:cxn modelId="{BD40B8BF-8DCF-4AA1-836F-9751A598EF25}" type="presParOf" srcId="{E69897B1-D93E-428E-8B9A-1E034157A60E}" destId="{8C86CB1D-0162-40AF-9CD2-E10E228448EA}" srcOrd="12" destOrd="0" presId="urn:microsoft.com/office/officeart/2008/layout/LinedList"/>
    <dgm:cxn modelId="{59C19163-49C9-46D4-A522-09C0629C5308}" type="presParOf" srcId="{E69897B1-D93E-428E-8B9A-1E034157A60E}" destId="{2072804F-E340-4559-9DE4-F3DB7E483498}" srcOrd="13" destOrd="0" presId="urn:microsoft.com/office/officeart/2008/layout/LinedList"/>
    <dgm:cxn modelId="{E65C52E3-D73A-4CAB-93CE-CA03691DC526}" type="presParOf" srcId="{2072804F-E340-4559-9DE4-F3DB7E483498}" destId="{25C33C94-32A7-4775-89D7-7619D1CD6393}" srcOrd="0" destOrd="0" presId="urn:microsoft.com/office/officeart/2008/layout/LinedList"/>
    <dgm:cxn modelId="{4EB86645-478A-4912-80CF-10AEC8F4E06E}" type="presParOf" srcId="{2072804F-E340-4559-9DE4-F3DB7E483498}" destId="{618EA57C-8463-43EA-AE5A-5C84DD92815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AC42EA-450B-4C74-A367-5D12555B82DC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72A22A6-5FCF-4535-AD65-F350802EA485}">
      <dgm:prSet/>
      <dgm:spPr/>
      <dgm:t>
        <a:bodyPr/>
        <a:lstStyle/>
        <a:p>
          <a:r>
            <a:rPr lang="en-US" dirty="0"/>
            <a:t>Prioritize diabetes prevention and screening programs in high-prevalence regions, particularly Mississippi, Alabama, Louisiana, and Puerto Rico.</a:t>
          </a:r>
        </a:p>
      </dgm:t>
    </dgm:pt>
    <dgm:pt modelId="{6DB3A387-036D-4141-9FAC-9D6AC1E44500}" type="parTrans" cxnId="{97C707EB-D915-44A3-91F8-0C844BCE8B86}">
      <dgm:prSet/>
      <dgm:spPr/>
      <dgm:t>
        <a:bodyPr/>
        <a:lstStyle/>
        <a:p>
          <a:endParaRPr lang="en-US"/>
        </a:p>
      </dgm:t>
    </dgm:pt>
    <dgm:pt modelId="{24F96DC9-73EC-45A8-9CBE-86109C7781E5}" type="sibTrans" cxnId="{97C707EB-D915-44A3-91F8-0C844BCE8B86}">
      <dgm:prSet/>
      <dgm:spPr/>
      <dgm:t>
        <a:bodyPr/>
        <a:lstStyle/>
        <a:p>
          <a:endParaRPr lang="en-US"/>
        </a:p>
      </dgm:t>
    </dgm:pt>
    <dgm:pt modelId="{691E5EA2-72C7-4758-829A-2A59C6C87CC1}">
      <dgm:prSet/>
      <dgm:spPr/>
      <dgm:t>
        <a:bodyPr/>
        <a:lstStyle/>
        <a:p>
          <a:r>
            <a:rPr lang="en-US" dirty="0"/>
            <a:t>Expand culturally appropriate education, screening, and healthcare access for Black, non-Hispanic and Hispanic communities to help reduce demographic disparities.</a:t>
          </a:r>
        </a:p>
      </dgm:t>
    </dgm:pt>
    <dgm:pt modelId="{D51EE271-7923-4C0A-AC89-EBB95D14493E}" type="parTrans" cxnId="{203DEAD5-1754-44AF-A3AD-E40804DFDB83}">
      <dgm:prSet/>
      <dgm:spPr/>
      <dgm:t>
        <a:bodyPr/>
        <a:lstStyle/>
        <a:p>
          <a:endParaRPr lang="en-US"/>
        </a:p>
      </dgm:t>
    </dgm:pt>
    <dgm:pt modelId="{5DA5B912-4EF4-40AA-A44A-7753FE1DCFAB}" type="sibTrans" cxnId="{203DEAD5-1754-44AF-A3AD-E40804DFDB83}">
      <dgm:prSet/>
      <dgm:spPr/>
      <dgm:t>
        <a:bodyPr/>
        <a:lstStyle/>
        <a:p>
          <a:endParaRPr lang="en-US"/>
        </a:p>
      </dgm:t>
    </dgm:pt>
    <dgm:pt modelId="{74C9FB8B-33D4-4EA7-B344-C78E3B09C556}">
      <dgm:prSet/>
      <dgm:spPr/>
      <dgm:t>
        <a:bodyPr/>
        <a:lstStyle/>
        <a:p>
          <a:r>
            <a:rPr lang="en-US" dirty="0"/>
            <a:t>Promote healthier lifestyles through community initiatives that encourage balanced nutrition, regular physical activity, and early diabetes screening.</a:t>
          </a:r>
        </a:p>
      </dgm:t>
    </dgm:pt>
    <dgm:pt modelId="{76331D43-6F0B-47DE-83F0-6F5788673B38}" type="parTrans" cxnId="{FF6AE4C9-BE49-4590-BB25-5A9267EBDDB0}">
      <dgm:prSet/>
      <dgm:spPr/>
      <dgm:t>
        <a:bodyPr/>
        <a:lstStyle/>
        <a:p>
          <a:endParaRPr lang="en-US"/>
        </a:p>
      </dgm:t>
    </dgm:pt>
    <dgm:pt modelId="{BC4FADA7-12F6-43EF-82A4-77D919904C74}" type="sibTrans" cxnId="{FF6AE4C9-BE49-4590-BB25-5A9267EBDDB0}">
      <dgm:prSet/>
      <dgm:spPr/>
      <dgm:t>
        <a:bodyPr/>
        <a:lstStyle/>
        <a:p>
          <a:endParaRPr lang="en-US"/>
        </a:p>
      </dgm:t>
    </dgm:pt>
    <dgm:pt modelId="{68F58302-EF1E-4A27-86F1-F7808B943D2B}">
      <dgm:prSet/>
      <dgm:spPr/>
      <dgm:t>
        <a:bodyPr/>
        <a:lstStyle/>
        <a:p>
          <a:r>
            <a:rPr lang="en-US" dirty="0"/>
            <a:t>Improve data collection and reporting consistency, particularly by addressing missing data such as Florida's 2021 prevalence records.</a:t>
          </a:r>
        </a:p>
      </dgm:t>
    </dgm:pt>
    <dgm:pt modelId="{7FF91E67-2272-49A4-853E-79D32E687235}" type="parTrans" cxnId="{95788CF4-E740-48F6-9C47-A27AE2B65DFA}">
      <dgm:prSet/>
      <dgm:spPr/>
      <dgm:t>
        <a:bodyPr/>
        <a:lstStyle/>
        <a:p>
          <a:endParaRPr lang="en-US"/>
        </a:p>
      </dgm:t>
    </dgm:pt>
    <dgm:pt modelId="{BA021D8B-4EB1-433F-898F-06C0A9EE93F1}" type="sibTrans" cxnId="{95788CF4-E740-48F6-9C47-A27AE2B65DFA}">
      <dgm:prSet/>
      <dgm:spPr/>
      <dgm:t>
        <a:bodyPr/>
        <a:lstStyle/>
        <a:p>
          <a:endParaRPr lang="en-US"/>
        </a:p>
      </dgm:t>
    </dgm:pt>
    <dgm:pt modelId="{7888462A-680A-4C0E-A728-80D1FA2C4331}">
      <dgm:prSet/>
      <dgm:spPr/>
      <dgm:t>
        <a:bodyPr/>
        <a:lstStyle/>
        <a:p>
          <a:r>
            <a:rPr lang="en-US" dirty="0"/>
            <a:t>Continue monitoring national and state-level diabetes trends to evaluate the effectiveness of public health interventions over time.</a:t>
          </a:r>
        </a:p>
      </dgm:t>
    </dgm:pt>
    <dgm:pt modelId="{7CAEF74E-A989-4B60-8AE5-01F61035ABDE}" type="parTrans" cxnId="{98A52D4F-21B4-4AFC-937D-D50581A20650}">
      <dgm:prSet/>
      <dgm:spPr/>
      <dgm:t>
        <a:bodyPr/>
        <a:lstStyle/>
        <a:p>
          <a:endParaRPr lang="en-US"/>
        </a:p>
      </dgm:t>
    </dgm:pt>
    <dgm:pt modelId="{0707C903-3B55-4D48-9AF9-E21B26F5EA8A}" type="sibTrans" cxnId="{98A52D4F-21B4-4AFC-937D-D50581A20650}">
      <dgm:prSet/>
      <dgm:spPr/>
      <dgm:t>
        <a:bodyPr/>
        <a:lstStyle/>
        <a:p>
          <a:endParaRPr lang="en-US"/>
        </a:p>
      </dgm:t>
    </dgm:pt>
    <dgm:pt modelId="{4432C03D-9E1F-4693-87EC-7D3D54D57994}" type="pres">
      <dgm:prSet presAssocID="{F3AC42EA-450B-4C74-A367-5D12555B82DC}" presName="vert0" presStyleCnt="0">
        <dgm:presLayoutVars>
          <dgm:dir/>
          <dgm:animOne val="branch"/>
          <dgm:animLvl val="lvl"/>
        </dgm:presLayoutVars>
      </dgm:prSet>
      <dgm:spPr/>
    </dgm:pt>
    <dgm:pt modelId="{05417A38-C433-4647-AC0E-F106B40D17C8}" type="pres">
      <dgm:prSet presAssocID="{B72A22A6-5FCF-4535-AD65-F350802EA485}" presName="thickLine" presStyleLbl="alignNode1" presStyleIdx="0" presStyleCnt="5"/>
      <dgm:spPr/>
    </dgm:pt>
    <dgm:pt modelId="{DFC2B412-2798-487B-B51A-3CD3FE73ABE9}" type="pres">
      <dgm:prSet presAssocID="{B72A22A6-5FCF-4535-AD65-F350802EA485}" presName="horz1" presStyleCnt="0"/>
      <dgm:spPr/>
    </dgm:pt>
    <dgm:pt modelId="{95471610-AA16-4480-A243-5B373ED9546B}" type="pres">
      <dgm:prSet presAssocID="{B72A22A6-5FCF-4535-AD65-F350802EA485}" presName="tx1" presStyleLbl="revTx" presStyleIdx="0" presStyleCnt="5"/>
      <dgm:spPr/>
    </dgm:pt>
    <dgm:pt modelId="{4461C077-7292-436A-B228-F9CFFA920731}" type="pres">
      <dgm:prSet presAssocID="{B72A22A6-5FCF-4535-AD65-F350802EA485}" presName="vert1" presStyleCnt="0"/>
      <dgm:spPr/>
    </dgm:pt>
    <dgm:pt modelId="{A9F570B5-B231-4A96-AFE3-DD059714DC09}" type="pres">
      <dgm:prSet presAssocID="{691E5EA2-72C7-4758-829A-2A59C6C87CC1}" presName="thickLine" presStyleLbl="alignNode1" presStyleIdx="1" presStyleCnt="5"/>
      <dgm:spPr/>
    </dgm:pt>
    <dgm:pt modelId="{A252685D-C002-49FD-94D1-D525F08112E6}" type="pres">
      <dgm:prSet presAssocID="{691E5EA2-72C7-4758-829A-2A59C6C87CC1}" presName="horz1" presStyleCnt="0"/>
      <dgm:spPr/>
    </dgm:pt>
    <dgm:pt modelId="{E502FB3B-7CA7-4B0B-8F27-C4362BA3B42D}" type="pres">
      <dgm:prSet presAssocID="{691E5EA2-72C7-4758-829A-2A59C6C87CC1}" presName="tx1" presStyleLbl="revTx" presStyleIdx="1" presStyleCnt="5"/>
      <dgm:spPr/>
    </dgm:pt>
    <dgm:pt modelId="{133B1B66-D96F-47DF-A204-8EB52C77F7C4}" type="pres">
      <dgm:prSet presAssocID="{691E5EA2-72C7-4758-829A-2A59C6C87CC1}" presName="vert1" presStyleCnt="0"/>
      <dgm:spPr/>
    </dgm:pt>
    <dgm:pt modelId="{813D4212-32CE-417D-95E7-F86FA50F8A1A}" type="pres">
      <dgm:prSet presAssocID="{74C9FB8B-33D4-4EA7-B344-C78E3B09C556}" presName="thickLine" presStyleLbl="alignNode1" presStyleIdx="2" presStyleCnt="5"/>
      <dgm:spPr/>
    </dgm:pt>
    <dgm:pt modelId="{9F489978-B2B2-45E5-9AC8-8BB75E8D4624}" type="pres">
      <dgm:prSet presAssocID="{74C9FB8B-33D4-4EA7-B344-C78E3B09C556}" presName="horz1" presStyleCnt="0"/>
      <dgm:spPr/>
    </dgm:pt>
    <dgm:pt modelId="{87DBB126-FCD0-457B-8A74-2A6F37546B02}" type="pres">
      <dgm:prSet presAssocID="{74C9FB8B-33D4-4EA7-B344-C78E3B09C556}" presName="tx1" presStyleLbl="revTx" presStyleIdx="2" presStyleCnt="5"/>
      <dgm:spPr/>
    </dgm:pt>
    <dgm:pt modelId="{745273A7-3DEA-49E0-BB42-C0FECA06A44C}" type="pres">
      <dgm:prSet presAssocID="{74C9FB8B-33D4-4EA7-B344-C78E3B09C556}" presName="vert1" presStyleCnt="0"/>
      <dgm:spPr/>
    </dgm:pt>
    <dgm:pt modelId="{9654CB65-33B4-4946-8367-C6BF220ADC3A}" type="pres">
      <dgm:prSet presAssocID="{68F58302-EF1E-4A27-86F1-F7808B943D2B}" presName="thickLine" presStyleLbl="alignNode1" presStyleIdx="3" presStyleCnt="5"/>
      <dgm:spPr/>
    </dgm:pt>
    <dgm:pt modelId="{C07DA333-61A8-444D-BB8A-9A747B3FD595}" type="pres">
      <dgm:prSet presAssocID="{68F58302-EF1E-4A27-86F1-F7808B943D2B}" presName="horz1" presStyleCnt="0"/>
      <dgm:spPr/>
    </dgm:pt>
    <dgm:pt modelId="{A888BB9A-ECC6-412E-9506-353F5F5341DA}" type="pres">
      <dgm:prSet presAssocID="{68F58302-EF1E-4A27-86F1-F7808B943D2B}" presName="tx1" presStyleLbl="revTx" presStyleIdx="3" presStyleCnt="5"/>
      <dgm:spPr/>
    </dgm:pt>
    <dgm:pt modelId="{1AE7CD01-3750-4251-A664-6E1D67B74A02}" type="pres">
      <dgm:prSet presAssocID="{68F58302-EF1E-4A27-86F1-F7808B943D2B}" presName="vert1" presStyleCnt="0"/>
      <dgm:spPr/>
    </dgm:pt>
    <dgm:pt modelId="{009A4A7E-97FC-428D-B7A6-304C1CB62C9F}" type="pres">
      <dgm:prSet presAssocID="{7888462A-680A-4C0E-A728-80D1FA2C4331}" presName="thickLine" presStyleLbl="alignNode1" presStyleIdx="4" presStyleCnt="5"/>
      <dgm:spPr/>
    </dgm:pt>
    <dgm:pt modelId="{25F47C56-E5D4-4B06-A8F5-C34063B1C05B}" type="pres">
      <dgm:prSet presAssocID="{7888462A-680A-4C0E-A728-80D1FA2C4331}" presName="horz1" presStyleCnt="0"/>
      <dgm:spPr/>
    </dgm:pt>
    <dgm:pt modelId="{E2E01A23-698F-4D6A-86A8-82C9F58EDD8B}" type="pres">
      <dgm:prSet presAssocID="{7888462A-680A-4C0E-A728-80D1FA2C4331}" presName="tx1" presStyleLbl="revTx" presStyleIdx="4" presStyleCnt="5"/>
      <dgm:spPr/>
    </dgm:pt>
    <dgm:pt modelId="{C98662C7-34F6-4862-AD54-2613E29169F4}" type="pres">
      <dgm:prSet presAssocID="{7888462A-680A-4C0E-A728-80D1FA2C4331}" presName="vert1" presStyleCnt="0"/>
      <dgm:spPr/>
    </dgm:pt>
  </dgm:ptLst>
  <dgm:cxnLst>
    <dgm:cxn modelId="{B51B6803-8293-4296-9AB4-380A0752486D}" type="presOf" srcId="{7888462A-680A-4C0E-A728-80D1FA2C4331}" destId="{E2E01A23-698F-4D6A-86A8-82C9F58EDD8B}" srcOrd="0" destOrd="0" presId="urn:microsoft.com/office/officeart/2008/layout/LinedList"/>
    <dgm:cxn modelId="{EFC44A48-8778-4DFB-B4D0-69EC728EC954}" type="presOf" srcId="{B72A22A6-5FCF-4535-AD65-F350802EA485}" destId="{95471610-AA16-4480-A243-5B373ED9546B}" srcOrd="0" destOrd="0" presId="urn:microsoft.com/office/officeart/2008/layout/LinedList"/>
    <dgm:cxn modelId="{98A52D4F-21B4-4AFC-937D-D50581A20650}" srcId="{F3AC42EA-450B-4C74-A367-5D12555B82DC}" destId="{7888462A-680A-4C0E-A728-80D1FA2C4331}" srcOrd="4" destOrd="0" parTransId="{7CAEF74E-A989-4B60-8AE5-01F61035ABDE}" sibTransId="{0707C903-3B55-4D48-9AF9-E21B26F5EA8A}"/>
    <dgm:cxn modelId="{80508F70-DE64-46D6-96F3-D0B9F81B267C}" type="presOf" srcId="{68F58302-EF1E-4A27-86F1-F7808B943D2B}" destId="{A888BB9A-ECC6-412E-9506-353F5F5341DA}" srcOrd="0" destOrd="0" presId="urn:microsoft.com/office/officeart/2008/layout/LinedList"/>
    <dgm:cxn modelId="{50809A56-82C4-446C-97E8-019929F50BA0}" type="presOf" srcId="{74C9FB8B-33D4-4EA7-B344-C78E3B09C556}" destId="{87DBB126-FCD0-457B-8A74-2A6F37546B02}" srcOrd="0" destOrd="0" presId="urn:microsoft.com/office/officeart/2008/layout/LinedList"/>
    <dgm:cxn modelId="{942A237A-3342-4188-9D63-60F4E5E857E5}" type="presOf" srcId="{F3AC42EA-450B-4C74-A367-5D12555B82DC}" destId="{4432C03D-9E1F-4693-87EC-7D3D54D57994}" srcOrd="0" destOrd="0" presId="urn:microsoft.com/office/officeart/2008/layout/LinedList"/>
    <dgm:cxn modelId="{85E173B5-169D-4098-B888-DDA8DE8D82A7}" type="presOf" srcId="{691E5EA2-72C7-4758-829A-2A59C6C87CC1}" destId="{E502FB3B-7CA7-4B0B-8F27-C4362BA3B42D}" srcOrd="0" destOrd="0" presId="urn:microsoft.com/office/officeart/2008/layout/LinedList"/>
    <dgm:cxn modelId="{FF6AE4C9-BE49-4590-BB25-5A9267EBDDB0}" srcId="{F3AC42EA-450B-4C74-A367-5D12555B82DC}" destId="{74C9FB8B-33D4-4EA7-B344-C78E3B09C556}" srcOrd="2" destOrd="0" parTransId="{76331D43-6F0B-47DE-83F0-6F5788673B38}" sibTransId="{BC4FADA7-12F6-43EF-82A4-77D919904C74}"/>
    <dgm:cxn modelId="{203DEAD5-1754-44AF-A3AD-E40804DFDB83}" srcId="{F3AC42EA-450B-4C74-A367-5D12555B82DC}" destId="{691E5EA2-72C7-4758-829A-2A59C6C87CC1}" srcOrd="1" destOrd="0" parTransId="{D51EE271-7923-4C0A-AC89-EBB95D14493E}" sibTransId="{5DA5B912-4EF4-40AA-A44A-7753FE1DCFAB}"/>
    <dgm:cxn modelId="{97C707EB-D915-44A3-91F8-0C844BCE8B86}" srcId="{F3AC42EA-450B-4C74-A367-5D12555B82DC}" destId="{B72A22A6-5FCF-4535-AD65-F350802EA485}" srcOrd="0" destOrd="0" parTransId="{6DB3A387-036D-4141-9FAC-9D6AC1E44500}" sibTransId="{24F96DC9-73EC-45A8-9CBE-86109C7781E5}"/>
    <dgm:cxn modelId="{95788CF4-E740-48F6-9C47-A27AE2B65DFA}" srcId="{F3AC42EA-450B-4C74-A367-5D12555B82DC}" destId="{68F58302-EF1E-4A27-86F1-F7808B943D2B}" srcOrd="3" destOrd="0" parTransId="{7FF91E67-2272-49A4-853E-79D32E687235}" sibTransId="{BA021D8B-4EB1-433F-898F-06C0A9EE93F1}"/>
    <dgm:cxn modelId="{C7445385-C6CE-47E1-94AB-767494E54E3C}" type="presParOf" srcId="{4432C03D-9E1F-4693-87EC-7D3D54D57994}" destId="{05417A38-C433-4647-AC0E-F106B40D17C8}" srcOrd="0" destOrd="0" presId="urn:microsoft.com/office/officeart/2008/layout/LinedList"/>
    <dgm:cxn modelId="{87A490B8-346B-47FF-99CD-3A1943085D5C}" type="presParOf" srcId="{4432C03D-9E1F-4693-87EC-7D3D54D57994}" destId="{DFC2B412-2798-487B-B51A-3CD3FE73ABE9}" srcOrd="1" destOrd="0" presId="urn:microsoft.com/office/officeart/2008/layout/LinedList"/>
    <dgm:cxn modelId="{BF2B1CCD-730A-4C2C-8509-C06FDC75F44D}" type="presParOf" srcId="{DFC2B412-2798-487B-B51A-3CD3FE73ABE9}" destId="{95471610-AA16-4480-A243-5B373ED9546B}" srcOrd="0" destOrd="0" presId="urn:microsoft.com/office/officeart/2008/layout/LinedList"/>
    <dgm:cxn modelId="{BE210A5F-92CE-481F-BDCA-81D05D9DF1B5}" type="presParOf" srcId="{DFC2B412-2798-487B-B51A-3CD3FE73ABE9}" destId="{4461C077-7292-436A-B228-F9CFFA920731}" srcOrd="1" destOrd="0" presId="urn:microsoft.com/office/officeart/2008/layout/LinedList"/>
    <dgm:cxn modelId="{807AC00D-E1E6-44B3-8380-A68677752A1E}" type="presParOf" srcId="{4432C03D-9E1F-4693-87EC-7D3D54D57994}" destId="{A9F570B5-B231-4A96-AFE3-DD059714DC09}" srcOrd="2" destOrd="0" presId="urn:microsoft.com/office/officeart/2008/layout/LinedList"/>
    <dgm:cxn modelId="{AB0C2FFE-B181-4C97-ABDB-9B789AAEBC64}" type="presParOf" srcId="{4432C03D-9E1F-4693-87EC-7D3D54D57994}" destId="{A252685D-C002-49FD-94D1-D525F08112E6}" srcOrd="3" destOrd="0" presId="urn:microsoft.com/office/officeart/2008/layout/LinedList"/>
    <dgm:cxn modelId="{BEC317F2-E38C-46BE-8DA3-CFFE7E940491}" type="presParOf" srcId="{A252685D-C002-49FD-94D1-D525F08112E6}" destId="{E502FB3B-7CA7-4B0B-8F27-C4362BA3B42D}" srcOrd="0" destOrd="0" presId="urn:microsoft.com/office/officeart/2008/layout/LinedList"/>
    <dgm:cxn modelId="{C6C9ACB5-F8C4-4D9B-A589-C15508E8ECB4}" type="presParOf" srcId="{A252685D-C002-49FD-94D1-D525F08112E6}" destId="{133B1B66-D96F-47DF-A204-8EB52C77F7C4}" srcOrd="1" destOrd="0" presId="urn:microsoft.com/office/officeart/2008/layout/LinedList"/>
    <dgm:cxn modelId="{07787180-C3F6-4710-A66C-2A25B158B210}" type="presParOf" srcId="{4432C03D-9E1F-4693-87EC-7D3D54D57994}" destId="{813D4212-32CE-417D-95E7-F86FA50F8A1A}" srcOrd="4" destOrd="0" presId="urn:microsoft.com/office/officeart/2008/layout/LinedList"/>
    <dgm:cxn modelId="{CD678C91-C55C-43E3-9BED-1EC8F138A262}" type="presParOf" srcId="{4432C03D-9E1F-4693-87EC-7D3D54D57994}" destId="{9F489978-B2B2-45E5-9AC8-8BB75E8D4624}" srcOrd="5" destOrd="0" presId="urn:microsoft.com/office/officeart/2008/layout/LinedList"/>
    <dgm:cxn modelId="{5D79E11A-00A3-428F-9A3B-562E72394915}" type="presParOf" srcId="{9F489978-B2B2-45E5-9AC8-8BB75E8D4624}" destId="{87DBB126-FCD0-457B-8A74-2A6F37546B02}" srcOrd="0" destOrd="0" presId="urn:microsoft.com/office/officeart/2008/layout/LinedList"/>
    <dgm:cxn modelId="{2F034E84-8801-4D67-9544-B0C72554FF42}" type="presParOf" srcId="{9F489978-B2B2-45E5-9AC8-8BB75E8D4624}" destId="{745273A7-3DEA-49E0-BB42-C0FECA06A44C}" srcOrd="1" destOrd="0" presId="urn:microsoft.com/office/officeart/2008/layout/LinedList"/>
    <dgm:cxn modelId="{2B71184E-E27B-44C5-BC08-02B05D4013E7}" type="presParOf" srcId="{4432C03D-9E1F-4693-87EC-7D3D54D57994}" destId="{9654CB65-33B4-4946-8367-C6BF220ADC3A}" srcOrd="6" destOrd="0" presId="urn:microsoft.com/office/officeart/2008/layout/LinedList"/>
    <dgm:cxn modelId="{DD4D8C9A-C8DD-424E-B9EE-28F7154CC931}" type="presParOf" srcId="{4432C03D-9E1F-4693-87EC-7D3D54D57994}" destId="{C07DA333-61A8-444D-BB8A-9A747B3FD595}" srcOrd="7" destOrd="0" presId="urn:microsoft.com/office/officeart/2008/layout/LinedList"/>
    <dgm:cxn modelId="{1D288F48-167F-47B4-BEE3-0B9E1AF54E33}" type="presParOf" srcId="{C07DA333-61A8-444D-BB8A-9A747B3FD595}" destId="{A888BB9A-ECC6-412E-9506-353F5F5341DA}" srcOrd="0" destOrd="0" presId="urn:microsoft.com/office/officeart/2008/layout/LinedList"/>
    <dgm:cxn modelId="{9090D055-5DA9-42F7-B593-045B3BD690B5}" type="presParOf" srcId="{C07DA333-61A8-444D-BB8A-9A747B3FD595}" destId="{1AE7CD01-3750-4251-A664-6E1D67B74A02}" srcOrd="1" destOrd="0" presId="urn:microsoft.com/office/officeart/2008/layout/LinedList"/>
    <dgm:cxn modelId="{1B0EF01E-8778-44F9-9D44-6895FC197246}" type="presParOf" srcId="{4432C03D-9E1F-4693-87EC-7D3D54D57994}" destId="{009A4A7E-97FC-428D-B7A6-304C1CB62C9F}" srcOrd="8" destOrd="0" presId="urn:microsoft.com/office/officeart/2008/layout/LinedList"/>
    <dgm:cxn modelId="{9643EEED-4A48-4C08-99AC-C34C27CA27A1}" type="presParOf" srcId="{4432C03D-9E1F-4693-87EC-7D3D54D57994}" destId="{25F47C56-E5D4-4B06-A8F5-C34063B1C05B}" srcOrd="9" destOrd="0" presId="urn:microsoft.com/office/officeart/2008/layout/LinedList"/>
    <dgm:cxn modelId="{30D3E915-5CA8-434A-BB2D-5B1CBB70172F}" type="presParOf" srcId="{25F47C56-E5D4-4B06-A8F5-C34063B1C05B}" destId="{E2E01A23-698F-4D6A-86A8-82C9F58EDD8B}" srcOrd="0" destOrd="0" presId="urn:microsoft.com/office/officeart/2008/layout/LinedList"/>
    <dgm:cxn modelId="{5FD63558-FB2E-4CEC-BA80-7CB228476745}" type="presParOf" srcId="{25F47C56-E5D4-4B06-A8F5-C34063B1C05B}" destId="{C98662C7-34F6-4862-AD54-2613E29169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AA3A6-5C77-42BB-84A4-44B498557E40}">
      <dsp:nvSpPr>
        <dsp:cNvPr id="0" name=""/>
        <dsp:cNvSpPr/>
      </dsp:nvSpPr>
      <dsp:spPr>
        <a:xfrm>
          <a:off x="0" y="475"/>
          <a:ext cx="103536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850B2D-6783-4D05-B8BB-AB69ABA60F31}">
      <dsp:nvSpPr>
        <dsp:cNvPr id="0" name=""/>
        <dsp:cNvSpPr/>
      </dsp:nvSpPr>
      <dsp:spPr>
        <a:xfrm>
          <a:off x="0" y="475"/>
          <a:ext cx="10353675" cy="556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Topic 1</a:t>
          </a:r>
        </a:p>
      </dsp:txBody>
      <dsp:txXfrm>
        <a:off x="0" y="475"/>
        <a:ext cx="10353675" cy="556773"/>
      </dsp:txXfrm>
    </dsp:sp>
    <dsp:sp modelId="{42410739-6684-485A-ABF9-9CB9FDA3A503}">
      <dsp:nvSpPr>
        <dsp:cNvPr id="0" name=""/>
        <dsp:cNvSpPr/>
      </dsp:nvSpPr>
      <dsp:spPr>
        <a:xfrm>
          <a:off x="0" y="557249"/>
          <a:ext cx="103536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EAF6AE-3449-4941-806D-3EE0143B7500}">
      <dsp:nvSpPr>
        <dsp:cNvPr id="0" name=""/>
        <dsp:cNvSpPr/>
      </dsp:nvSpPr>
      <dsp:spPr>
        <a:xfrm>
          <a:off x="0" y="557249"/>
          <a:ext cx="10353675" cy="556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Topic 2</a:t>
          </a:r>
        </a:p>
      </dsp:txBody>
      <dsp:txXfrm>
        <a:off x="0" y="557249"/>
        <a:ext cx="10353675" cy="556773"/>
      </dsp:txXfrm>
    </dsp:sp>
    <dsp:sp modelId="{5712562F-9217-48F2-97EF-21ED04192EE9}">
      <dsp:nvSpPr>
        <dsp:cNvPr id="0" name=""/>
        <dsp:cNvSpPr/>
      </dsp:nvSpPr>
      <dsp:spPr>
        <a:xfrm>
          <a:off x="0" y="1114023"/>
          <a:ext cx="103536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0B0DB1-A8B2-4B59-AB1E-B9367FFE077F}">
      <dsp:nvSpPr>
        <dsp:cNvPr id="0" name=""/>
        <dsp:cNvSpPr/>
      </dsp:nvSpPr>
      <dsp:spPr>
        <a:xfrm>
          <a:off x="0" y="1114023"/>
          <a:ext cx="10353675" cy="556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Topic 3</a:t>
          </a:r>
        </a:p>
      </dsp:txBody>
      <dsp:txXfrm>
        <a:off x="0" y="1114023"/>
        <a:ext cx="10353675" cy="556773"/>
      </dsp:txXfrm>
    </dsp:sp>
    <dsp:sp modelId="{F78A4B7B-29CF-4B63-9370-ECD2E4514E3B}">
      <dsp:nvSpPr>
        <dsp:cNvPr id="0" name=""/>
        <dsp:cNvSpPr/>
      </dsp:nvSpPr>
      <dsp:spPr>
        <a:xfrm>
          <a:off x="0" y="1670797"/>
          <a:ext cx="103536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E19A3E-BFAC-4925-B673-CB92D6460A37}">
      <dsp:nvSpPr>
        <dsp:cNvPr id="0" name=""/>
        <dsp:cNvSpPr/>
      </dsp:nvSpPr>
      <dsp:spPr>
        <a:xfrm>
          <a:off x="0" y="1670797"/>
          <a:ext cx="10353675" cy="556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Topic 4</a:t>
          </a:r>
        </a:p>
      </dsp:txBody>
      <dsp:txXfrm>
        <a:off x="0" y="1670797"/>
        <a:ext cx="10353675" cy="556773"/>
      </dsp:txXfrm>
    </dsp:sp>
    <dsp:sp modelId="{A85EF57A-4746-4C4B-8598-386089E41C8A}">
      <dsp:nvSpPr>
        <dsp:cNvPr id="0" name=""/>
        <dsp:cNvSpPr/>
      </dsp:nvSpPr>
      <dsp:spPr>
        <a:xfrm>
          <a:off x="0" y="2227571"/>
          <a:ext cx="103536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C5B2D3-640F-4CFF-9B89-A726560B1746}">
      <dsp:nvSpPr>
        <dsp:cNvPr id="0" name=""/>
        <dsp:cNvSpPr/>
      </dsp:nvSpPr>
      <dsp:spPr>
        <a:xfrm>
          <a:off x="0" y="2227571"/>
          <a:ext cx="10353675" cy="556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Topic 5</a:t>
          </a:r>
        </a:p>
      </dsp:txBody>
      <dsp:txXfrm>
        <a:off x="0" y="2227571"/>
        <a:ext cx="10353675" cy="556773"/>
      </dsp:txXfrm>
    </dsp:sp>
    <dsp:sp modelId="{5BE36933-A40E-40BC-81D6-625C0A0627B7}">
      <dsp:nvSpPr>
        <dsp:cNvPr id="0" name=""/>
        <dsp:cNvSpPr/>
      </dsp:nvSpPr>
      <dsp:spPr>
        <a:xfrm>
          <a:off x="0" y="2784345"/>
          <a:ext cx="103536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A64956-7ACA-4B11-AEA9-26D296BD3162}">
      <dsp:nvSpPr>
        <dsp:cNvPr id="0" name=""/>
        <dsp:cNvSpPr/>
      </dsp:nvSpPr>
      <dsp:spPr>
        <a:xfrm>
          <a:off x="0" y="2784345"/>
          <a:ext cx="10353675" cy="556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Topic 6</a:t>
          </a:r>
        </a:p>
      </dsp:txBody>
      <dsp:txXfrm>
        <a:off x="0" y="2784345"/>
        <a:ext cx="10353675" cy="556773"/>
      </dsp:txXfrm>
    </dsp:sp>
    <dsp:sp modelId="{8C86CB1D-0162-40AF-9CD2-E10E228448EA}">
      <dsp:nvSpPr>
        <dsp:cNvPr id="0" name=""/>
        <dsp:cNvSpPr/>
      </dsp:nvSpPr>
      <dsp:spPr>
        <a:xfrm>
          <a:off x="0" y="3341119"/>
          <a:ext cx="103536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C33C94-32A7-4775-89D7-7619D1CD6393}">
      <dsp:nvSpPr>
        <dsp:cNvPr id="0" name=""/>
        <dsp:cNvSpPr/>
      </dsp:nvSpPr>
      <dsp:spPr>
        <a:xfrm>
          <a:off x="0" y="3341119"/>
          <a:ext cx="10353675" cy="556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Topic 7</a:t>
          </a:r>
        </a:p>
      </dsp:txBody>
      <dsp:txXfrm>
        <a:off x="0" y="3341119"/>
        <a:ext cx="10353675" cy="5567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417A38-C433-4647-AC0E-F106B40D17C8}">
      <dsp:nvSpPr>
        <dsp:cNvPr id="0" name=""/>
        <dsp:cNvSpPr/>
      </dsp:nvSpPr>
      <dsp:spPr>
        <a:xfrm>
          <a:off x="0" y="598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471610-AA16-4480-A243-5B373ED9546B}">
      <dsp:nvSpPr>
        <dsp:cNvPr id="0" name=""/>
        <dsp:cNvSpPr/>
      </dsp:nvSpPr>
      <dsp:spPr>
        <a:xfrm>
          <a:off x="0" y="598"/>
          <a:ext cx="6266011" cy="979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Prioritize diabetes prevention and screening programs in high-prevalence regions, particularly Mississippi, Alabama, Louisiana, and Puerto Rico.</a:t>
          </a:r>
        </a:p>
      </dsp:txBody>
      <dsp:txXfrm>
        <a:off x="0" y="598"/>
        <a:ext cx="6266011" cy="979670"/>
      </dsp:txXfrm>
    </dsp:sp>
    <dsp:sp modelId="{A9F570B5-B231-4A96-AFE3-DD059714DC09}">
      <dsp:nvSpPr>
        <dsp:cNvPr id="0" name=""/>
        <dsp:cNvSpPr/>
      </dsp:nvSpPr>
      <dsp:spPr>
        <a:xfrm>
          <a:off x="0" y="980268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177515"/>
                <a:satOff val="-1467"/>
                <a:lumOff val="-3137"/>
                <a:alphaOff val="0"/>
                <a:tint val="96000"/>
                <a:lumMod val="104000"/>
              </a:schemeClr>
            </a:gs>
            <a:gs pos="100000">
              <a:schemeClr val="accent2">
                <a:hueOff val="-177515"/>
                <a:satOff val="-1467"/>
                <a:lumOff val="-3137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77515"/>
              <a:satOff val="-1467"/>
              <a:lumOff val="-3137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02FB3B-7CA7-4B0B-8F27-C4362BA3B42D}">
      <dsp:nvSpPr>
        <dsp:cNvPr id="0" name=""/>
        <dsp:cNvSpPr/>
      </dsp:nvSpPr>
      <dsp:spPr>
        <a:xfrm>
          <a:off x="0" y="980268"/>
          <a:ext cx="6266011" cy="979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Expand culturally appropriate education, screening, and healthcare access for Black, non-Hispanic and Hispanic communities to help reduce demographic disparities.</a:t>
          </a:r>
        </a:p>
      </dsp:txBody>
      <dsp:txXfrm>
        <a:off x="0" y="980268"/>
        <a:ext cx="6266011" cy="979670"/>
      </dsp:txXfrm>
    </dsp:sp>
    <dsp:sp modelId="{813D4212-32CE-417D-95E7-F86FA50F8A1A}">
      <dsp:nvSpPr>
        <dsp:cNvPr id="0" name=""/>
        <dsp:cNvSpPr/>
      </dsp:nvSpPr>
      <dsp:spPr>
        <a:xfrm>
          <a:off x="0" y="1959938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355029"/>
                <a:satOff val="-2934"/>
                <a:lumOff val="-6274"/>
                <a:alphaOff val="0"/>
                <a:tint val="96000"/>
                <a:lumMod val="104000"/>
              </a:schemeClr>
            </a:gs>
            <a:gs pos="100000">
              <a:schemeClr val="accent2">
                <a:hueOff val="-355029"/>
                <a:satOff val="-2934"/>
                <a:lumOff val="-6274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355029"/>
              <a:satOff val="-2934"/>
              <a:lumOff val="-6274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DBB126-FCD0-457B-8A74-2A6F37546B02}">
      <dsp:nvSpPr>
        <dsp:cNvPr id="0" name=""/>
        <dsp:cNvSpPr/>
      </dsp:nvSpPr>
      <dsp:spPr>
        <a:xfrm>
          <a:off x="0" y="1959938"/>
          <a:ext cx="6266011" cy="979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Promote healthier lifestyles through community initiatives that encourage balanced nutrition, regular physical activity, and early diabetes screening.</a:t>
          </a:r>
        </a:p>
      </dsp:txBody>
      <dsp:txXfrm>
        <a:off x="0" y="1959938"/>
        <a:ext cx="6266011" cy="979670"/>
      </dsp:txXfrm>
    </dsp:sp>
    <dsp:sp modelId="{9654CB65-33B4-4946-8367-C6BF220ADC3A}">
      <dsp:nvSpPr>
        <dsp:cNvPr id="0" name=""/>
        <dsp:cNvSpPr/>
      </dsp:nvSpPr>
      <dsp:spPr>
        <a:xfrm>
          <a:off x="0" y="2939608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532544"/>
                <a:satOff val="-4401"/>
                <a:lumOff val="-9412"/>
                <a:alphaOff val="0"/>
                <a:tint val="96000"/>
                <a:lumMod val="104000"/>
              </a:schemeClr>
            </a:gs>
            <a:gs pos="100000">
              <a:schemeClr val="accent2">
                <a:hueOff val="-532544"/>
                <a:satOff val="-4401"/>
                <a:lumOff val="-9412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532544"/>
              <a:satOff val="-4401"/>
              <a:lumOff val="-9412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88BB9A-ECC6-412E-9506-353F5F5341DA}">
      <dsp:nvSpPr>
        <dsp:cNvPr id="0" name=""/>
        <dsp:cNvSpPr/>
      </dsp:nvSpPr>
      <dsp:spPr>
        <a:xfrm>
          <a:off x="0" y="2939608"/>
          <a:ext cx="6266011" cy="979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Improve data collection and reporting consistency, particularly by addressing missing data such as Florida's 2021 prevalence records.</a:t>
          </a:r>
        </a:p>
      </dsp:txBody>
      <dsp:txXfrm>
        <a:off x="0" y="2939608"/>
        <a:ext cx="6266011" cy="979670"/>
      </dsp:txXfrm>
    </dsp:sp>
    <dsp:sp modelId="{009A4A7E-97FC-428D-B7A6-304C1CB62C9F}">
      <dsp:nvSpPr>
        <dsp:cNvPr id="0" name=""/>
        <dsp:cNvSpPr/>
      </dsp:nvSpPr>
      <dsp:spPr>
        <a:xfrm>
          <a:off x="0" y="3919278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710059"/>
              <a:satOff val="-5868"/>
              <a:lumOff val="-12549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E01A23-698F-4D6A-86A8-82C9F58EDD8B}">
      <dsp:nvSpPr>
        <dsp:cNvPr id="0" name=""/>
        <dsp:cNvSpPr/>
      </dsp:nvSpPr>
      <dsp:spPr>
        <a:xfrm>
          <a:off x="0" y="3919278"/>
          <a:ext cx="6266011" cy="979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Continue monitoring national and state-level diabetes trends to evaluate the effectiveness of public health interventions over time.</a:t>
          </a:r>
        </a:p>
      </dsp:txBody>
      <dsp:txXfrm>
        <a:off x="0" y="3919278"/>
        <a:ext cx="6266011" cy="979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B381A-F5F0-FA22-06CE-ED66BF77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D0068-D972-073F-DDD6-B0EB91B52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94261E-34F9-CFC6-7930-3CC8AD3F3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A1E73-9C94-F947-472E-FBC9EF2B6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8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7E75C-0DDD-D52E-4054-363E3978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ADCDB-266D-5E7F-4D58-034BCD381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E95CE-FB5D-4D7E-F268-CA975533A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2AD88-BDE0-F959-E9A9-BE5C125CE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2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0343D-D936-BB86-5F4A-B1B06C3E2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119CF-747E-C2E7-97FE-2FA7978A7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7D5A7-9708-B891-49A0-BE6D276E2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A3ED1-534C-2583-EC2F-4A2DBA87A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5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02166-7B86-9BEC-00D2-2991304F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82983-A841-3FE9-C794-83CF65B28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26C5D-E69E-302C-3485-B307A043E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31207-5B79-FB78-C90D-DC6A0F9BF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78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25CA-9E22-7E47-328F-FF354BAE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B990B-3A7E-45F3-5957-B7F730E98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1F2F1-6119-491B-6A2F-A89B4C50F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B1DA5-0F99-036A-2629-4204C3183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50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C53F-1A34-442D-B30D-0883840A2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239E5-EC05-7148-6C96-6BFA60286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8A244-66A8-7CCC-31A6-97E492561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D45BB-B307-65F2-E798-74FC9FF4A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26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3EC90-0599-04A6-5521-FC3CFC35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859D3-28A5-9DC7-C7F5-D331A4888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B37DA-B7A4-7ED9-77A1-203E4D0AC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9EFC5-251E-B281-B846-78ED09AB7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7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D6C9-575B-0A2D-A46A-365987A88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F29D0-3484-4C59-C16B-807905AFF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CEA20-95B3-2004-6E47-A1DC8E196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D116F-4BC1-5D85-4D14-57AD2DE45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60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4AA49-D2D5-BC6D-A859-4BE888FB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C1714-ECDA-E782-C545-F3227F542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E66A7-0687-8364-E8CF-40DAE5B97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62D28-95F2-C2B3-7ECA-64B9F83AC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17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9689-4E62-8FF7-0BD6-B5C55AEA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CD37A-BB3B-B2AE-6AAB-4E2F3E04D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4F46D-DA1F-3259-6CB2-01981F27F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AEC8-1020-CDAD-FAB8-B6E326B39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57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CE71-F9B9-5C04-B492-8FCFB1696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648B4-F33F-1E67-9B15-67B6C8CC0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EA287-25C7-48CC-2DF4-C60870E06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78E54-CA7F-DB08-17D1-F884FDFB3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88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6A18-5C15-CB1C-3C56-1493040F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0B6C0-D3DF-DFD9-EE0C-AC6B17CFC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67E04-2B63-4B08-3279-E70655600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A7ADA-2331-4BBE-9394-85C4F850E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62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69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4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0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43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0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6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0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4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9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05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00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904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91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71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43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26339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131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046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25170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6D8061D-18C3-4F4F-85EF-561633F5875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047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3" r:id="rId20"/>
    <p:sldLayoutId id="2147483718" r:id="rId21"/>
    <p:sldLayoutId id="2147483660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9441" y="1233378"/>
            <a:ext cx="5441285" cy="2364964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5400" b="1" cap="none" spc="0" baseline="0">
                <a:cs typeface="+mj-cs"/>
              </a:rPr>
              <a:t>Lighting Talk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0F6D91-64BE-F617-E0A3-C87FA73C0D5A}"/>
              </a:ext>
            </a:extLst>
          </p:cNvPr>
          <p:cNvSpPr txBox="1"/>
          <p:nvPr/>
        </p:nvSpPr>
        <p:spPr>
          <a:xfrm>
            <a:off x="5369441" y="3598339"/>
            <a:ext cx="5441286" cy="16753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000" b="0" i="0" cap="all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Presented by: </a:t>
            </a:r>
            <a:r>
              <a:rPr lang="en-US" sz="2000" cap="all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Abdulla Alsharqi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6AAFF90-89E1-46D5-B8B5-3BFDBB92D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pic>
        <p:nvPicPr>
          <p:cNvPr id="21" name="Graphic 20" descr="Lightbulb">
            <a:extLst>
              <a:ext uri="{FF2B5EF4-FFF2-40B4-BE49-F238E27FC236}">
                <a16:creationId xmlns:a16="http://schemas.microsoft.com/office/drawing/2014/main" id="{713CCFE5-E1FA-94CB-FDAE-A98BE401B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339" y="1427660"/>
            <a:ext cx="3551912" cy="35519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FAB8092-6E58-373E-5A5B-E4E72AB3353B}"/>
              </a:ext>
            </a:extLst>
          </p:cNvPr>
          <p:cNvSpPr txBox="1"/>
          <p:nvPr/>
        </p:nvSpPr>
        <p:spPr>
          <a:xfrm>
            <a:off x="3068665" y="2945992"/>
            <a:ext cx="6137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Content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C982306C-B855-5D36-0A35-7CDA090DD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821007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AC224410-FF86-4FBB-A05E-61232D4B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F3BDD110-869E-4A8C-9250-C7AE5C840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1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1. Predictive Maintenance for Industrial Motors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None/>
            </a:pPr>
            <a:r>
              <a:rPr lang="en-US" b="1" dirty="0"/>
              <a:t>What it is:</a:t>
            </a:r>
            <a:r>
              <a:rPr lang="en-US" dirty="0"/>
              <a:t> Detects early warning signs of motor 	failure — bearing wear, misalignment, imbalance — 	from vibration and current signals, before a 	breakdown happens.	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Any facility with rotating machinery — factories, HVAC, oil &amp; gas, 	manufacturing.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Replaces reactive or fixed-schedule maintenance with condition-based maintenance, 	avoiding costly unplanned downtime.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CWRU Bearing Dataset (Case Western Reserve) — vibration signals across multiple fault 	types and loads, the most cited benchmark in this 	space. Alternates: Paderborn (adds motor current 	data) or FEMTO-ST (built for remaining-life 	prediction).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"CWRU bearing dataset" · "Paderborn University </a:t>
            </a:r>
            <a:r>
              <a:rPr lang="en-US" dirty="0" err="1"/>
              <a:t>KAt</a:t>
            </a:r>
            <a:r>
              <a:rPr lang="en-US" dirty="0"/>
              <a:t> bearing dataset" · "FEMTO-ST 	PRONOSTIA bearing dataset"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Ties directly to your own VFD 	capstone project — instant credibility.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F527A-8A74-3EEC-DB1B-2B317F5A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0449DA-9604-3903-A145-A2A9ED4E1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7627CC1F-B9DD-7E1F-2CE7-7D0D27A5F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E575B-B591-B3D8-35F5-5FE103758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2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D75C3109-A134-B6B1-4249-85DD0207CF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2. Customer Churn Prediction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None/>
            </a:pPr>
            <a:r>
              <a:rPr lang="en-US" b="1" dirty="0"/>
              <a:t>What it is:</a:t>
            </a:r>
            <a:r>
              <a:rPr lang="en-US" dirty="0"/>
              <a:t> Flags customers likely to cancel based on usage drop-off, complaints, and billing behavior.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Telecom, banking, streaming, gyms, SaaS — any subscription business.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Retaining a customer costs 5–25x less than acquiring one — early flags enable retention outreach before revenue is lost.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Telco Customer Churn (Kaggle, IBM's sample, ~7,000 customers). Alternates: Bank Customer Churn (~10,000 records) or KKBOX Music Streaming Churn (larger, real transaction/listening data).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"Telco Customer Churn Kaggle" · "Bank Customer Churn dataset Kaggle" · "KKBOX Churn Prediction Challenge"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The most universally understood pitch on the list.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A7D89-0B9C-A1BB-40A7-0EFD926D5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792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81656-19AE-6351-C515-EE6C7E4F1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9D3CE5C7-CE3E-7703-3570-B3EDC1A76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2A8F3C72-3470-1647-51EB-D483C8C0B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CB02E-E23C-CD67-617A-53DB2C59C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3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5F8E45D0-E3FD-7B35-8F75-C135759D80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3. Smart Grid Load Forecasting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None/>
            </a:pPr>
            <a:r>
              <a:rPr lang="en-US" b="1" dirty="0"/>
              <a:t>What it is:</a:t>
            </a:r>
            <a:r>
              <a:rPr lang="en-US" dirty="0"/>
              <a:t> Forecasts electricity demand hours or days ahead so generation can be scheduled accordingly.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National utilities and grid operators — relevant for Gulf summer AC-driven demand peaks.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Balances supply and demand — underestimating risks blackouts, overestimating wastes generation capacity.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PJM Hourly Energy Consumption (Kaggle) — real hourly load data from a major US grid operator.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"PJM Hourly Energy Consumption Kaggle"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One of the most mature, already-commoditized ML use cases in the power industry — technically solid but a weaker "found a gap" story.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B56CE-66BB-44C0-1764-728DAB2E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53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9A088-64A3-9D0E-91BF-2E960CD8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825AE8C-A9DF-C972-7B80-1AFE4EFD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380C7C3F-1924-134A-E796-F2044E8A4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86E6F-3AC0-40AC-C4D7-C395F61A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4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3B59DAE0-6ECE-DE24-21F8-5EB32962F7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4. Deepfake Detection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None/>
            </a:pPr>
            <a:r>
              <a:rPr lang="en-US" b="1" dirty="0"/>
              <a:t>What it is:</a:t>
            </a:r>
            <a:r>
              <a:rPr lang="en-US" dirty="0"/>
              <a:t> Distinguishes real photos from AI-generated faces.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Social platforms, corporate security, journalism, identity verification.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Counters disinformation and fraud — including real cases of scammers using fake video to authorize payments.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"140k Real and Fake Faces" (Kaggle) — real photos (Flickr-Faces) vs. StyleGAN-generated faces, evenly split.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"140k Real and Fake Faces Kaggle"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Most visually compelling live demo on the list — real vs. fake, side by side.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B1693B-4BBE-FBD8-24A4-8D957D0C5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47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404D9-82DE-47D6-EA64-B24311A9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FF4C5561-F10F-E695-FF2C-07FF2D813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631B701E-85D2-FB57-7C68-FDBEA8722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3E79F-7ABF-B68F-97C7-6C31AA67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5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EDCAF22D-C287-A55E-C9C2-44BBB5F638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5. Solar PV Fault &amp; Performance Prediction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None/>
            </a:pPr>
            <a:r>
              <a:rPr lang="en-US" b="1" dirty="0"/>
              <a:t>What it is:</a:t>
            </a:r>
            <a:r>
              <a:rPr lang="en-US" dirty="0"/>
              <a:t> Flags underperforming panels by comparing actual output to weather-predicted expected output.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Solar farms and rooftop installs — relevant given Bahrain's renewable energy push.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Catches faults (dirt, shading, wiring, degradation) before weeks of silent revenue loss.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"Solar Power Generation Data" (Kaggle, two Indian plants). Bahrain angle: a Bahrain Polytechnic campus irradiance study — worth asking instructors about access — plus NASA POWER or Global Solar Atlas as fallbacks.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"Solar Power Generation Data Kaggle" · "tilted global solar irradiance Bahrain experimental study" (Google Scholar/ResearchGate) · "NASA POWER data access viewer" · "Global Solar Atlas Bahrain"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The Bahrain Polytechnic data would be a genuine differentiator.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29404-48AD-30BF-F82A-341E78B8B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53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B9398-F89C-9502-1CD1-42BE76BAA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11ACC8BC-1138-70C4-E852-5F7F5ACE2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02788FC7-C5A9-7909-5BC1-0C27EC213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B0A0E-E436-894A-E27A-04851575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6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4220B133-F2E7-92B1-863A-57CB22A6C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6. Power Line Insulator Defect Detection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None/>
            </a:pPr>
            <a:r>
              <a:rPr lang="en-US" b="1" dirty="0"/>
              <a:t>What it is:</a:t>
            </a:r>
            <a:r>
              <a:rPr lang="en-US" dirty="0"/>
              <a:t> Detects cracked, chipped, or flashover-damaged insulators from images.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Utility grid inspection teams.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Replaces slow manual drone-footage review with automated detection.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</a:t>
            </a:r>
            <a:r>
              <a:rPr lang="en-US" dirty="0" err="1"/>
              <a:t>Roboflow</a:t>
            </a:r>
            <a:r>
              <a:rPr lang="en-US" dirty="0"/>
              <a:t> Universe (search "insulator") or the Kaggle "Insulator Defect Detection" competition.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"insulator" on universe.roboflow.com · "Insulator Defect Detection Kaggle"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Strong visual demo, pairs your EE background with a trendy CV technique.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8FCAE2-88DF-FD80-E0E0-2B9F69DC5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523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8E2BD-2585-0D5E-4869-BBE696918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95A16D2A-00FC-7005-DE93-92726D5BD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754DC040-3E56-DB05-6729-87BD49565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25435-28D3-194D-D629-CC9410B70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7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10A6B1EB-EDB8-F32C-6A65-9D3FC119A9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7. Employee Attrition Prediction</a:t>
            </a:r>
          </a:p>
          <a:p>
            <a:pPr marL="0" indent="0">
              <a:buNone/>
            </a:pPr>
            <a:r>
              <a:rPr lang="en-US" b="1" dirty="0"/>
              <a:t>What it is:</a:t>
            </a:r>
            <a:r>
              <a:rPr lang="en-US" dirty="0"/>
              <a:t> Flags employees at risk of resigning from tenure, salary, satisfaction, and overtime data.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HR/People Analytics at mid-to-large companies.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Replacing an employee costs 50–200% of salary — early flags allow retention intervention.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IBM HR Analytics Employee Attrition (Kaggle, ~1,470 records, ~35 features).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"IBM HR Analytics Employee Attrition Performance Kaggle"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Very common bootcamp dataset — safe, but less original.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8AC8A2-87BB-40FE-54B5-C039F65BC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062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2C045-25BA-8D87-772F-E02297EF5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8CB3BA39-9123-80CB-0D4B-5A772F6AF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D1C93432-8759-3A25-DD0F-42A517A23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2C2D0-21A9-2A74-AAF6-935FEB15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8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178E5FB0-4D47-7704-D4AF-B7E5E0DC23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8. Building Energy Consumption Forecasting</a:t>
            </a:r>
          </a:p>
          <a:p>
            <a:pPr marL="0" indent="0">
              <a:buNone/>
            </a:pPr>
            <a:r>
              <a:rPr lang="en-US" b="1" dirty="0"/>
              <a:t>What it is:</a:t>
            </a:r>
            <a:r>
              <a:rPr lang="en-US" dirty="0"/>
              <a:t> Predicts building energy use from historical patterns and weather.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Facility managers, commercial real estate, HVAC operators.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Reduces energy waste through better budgeting and scheduling.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ASHRAE "Great Energy Predictor III" (Kaggle) — real meter data from 1,000+ buildings.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"ASHRAE Great Energy Predictor III Kaggle" or "</a:t>
            </a:r>
            <a:r>
              <a:rPr lang="en-US" dirty="0" err="1"/>
              <a:t>ashrae</a:t>
            </a:r>
            <a:r>
              <a:rPr lang="en-US" dirty="0"/>
              <a:t>-energy-prediction"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One of the largest, best-documented datasets on the list.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16ADC3-ADD7-D7F8-7905-CFCE503A2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40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F8F51-A3C4-AF9D-E78B-40024E80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519B17A-E9D4-D750-29CA-FD9730BE6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8CDA1549-D991-AE66-22C3-770284B2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9BE87-094F-6489-9176-3AF72ACA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9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BF83FB70-FFB2-94A6-331A-2CD9305470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9. Fake News Detection</a:t>
            </a:r>
          </a:p>
          <a:p>
            <a:pPr marL="0" indent="0">
              <a:buNone/>
            </a:pPr>
            <a:r>
              <a:rPr lang="en-US" b="1" dirty="0"/>
              <a:t>What it is:</a:t>
            </a:r>
            <a:r>
              <a:rPr lang="en-US" dirty="0"/>
              <a:t> Classifies news articles/headlines as real or fabricated from their text.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Social platforms, fact-checkers, media literacy tools.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Supports trust-and-safety teams against fast-spreading misinformation.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"Fake and Real News Dataset" (Kaggle, ~44,000 articles).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"Fake and Real News Dataset Kaggle"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Clean, well-documented — low friction to start.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7B3846-2139-4F15-D8C4-493DB57D6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1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41094-056E-F4FC-DDF3-9C733EC0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5185806E-8899-0B24-FDC3-6ED4DEEC4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9D55A834-41F9-79BE-2669-4F4E57FB0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83ACD-574D-CC94-CC9B-776493C4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10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6859A8E0-9967-D383-8A17-7A54601CA4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10. Fake Review Detection</a:t>
            </a:r>
          </a:p>
          <a:p>
            <a:pPr marL="0" indent="0">
              <a:buNone/>
            </a:pPr>
            <a:r>
              <a:rPr lang="en-US" b="1" dirty="0"/>
              <a:t>What it is:</a:t>
            </a:r>
            <a:r>
              <a:rPr lang="en-US" dirty="0"/>
              <a:t> Distinguishes genuine reviews from fake/bot-written ones.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E-commerce marketplaces, hospitality/booking platforms.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Fake reviews mislead shoppers and erode trust — now an active FTC enforcement area, giving this a current-events hook.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"Fake Reviews Dataset" (Kaggle, Amazon-style reviews).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"Fake Reviews Dataset Kaggle"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The regulatory angle keeps this feeling current.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22882-026A-97F8-AAF3-3F90BD8E5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659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4F793-C72B-4E02-0A27-86954E334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598799CF-77EB-DA17-9CC0-FB7501C7E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440A47A5-EE12-97C1-4510-180F3C663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12178-E774-4F96-F4F2-8B9DF6C5F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11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8CD18278-796C-792B-9BFA-EAD4C461F6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11. Loan Approval Prediction</a:t>
            </a:r>
          </a:p>
          <a:p>
            <a:pPr marL="0" indent="0">
              <a:buNone/>
            </a:pPr>
            <a:r>
              <a:rPr lang="en-US" b="1" dirty="0"/>
              <a:t>What it is:</a:t>
            </a:r>
            <a:r>
              <a:rPr lang="en-US" dirty="0"/>
              <a:t> Predicts loan approval from income, credit history, and loan details.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Banks and lending institutions.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Speeds up and standardizes application screening.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"Loan Prediction Dataset" (Analytics Vidhya/Kaggle, 600+ applicants).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"Loan Prediction Problem Dataset Kaggle" or "Loan Prediction Dataset Analytics Vidhya"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Common first-classification dataset — safe but not especially original.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566BCD-A45A-82FE-FFBA-89A7FB110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621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B000A-B90B-3A1B-91FB-429E82CB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90FBC83A-CF52-D053-4ADC-6FFF50B9C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0793B884-74ED-7CE9-949D-9A4D67481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4E979-E9FB-2FAB-6F36-5F241D3A7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dirty="0"/>
              <a:t>Topic 12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BA6934C2-928B-F201-0F94-76CF7F59B7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8769" y="1118809"/>
            <a:ext cx="5049763" cy="4747681"/>
          </a:xfrm>
          <a:effectLst/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12. Power Transformer Fault Diagnosis (DGA)</a:t>
            </a:r>
          </a:p>
          <a:p>
            <a:pPr marL="0" indent="0">
              <a:buNone/>
            </a:pPr>
            <a:r>
              <a:rPr lang="en-US" b="1" dirty="0"/>
              <a:t>What it is:</a:t>
            </a:r>
            <a:r>
              <a:rPr lang="en-US" dirty="0"/>
              <a:t> Diagnoses transformer faults from gas concentrations released into insulating oil — a real diagnostic technique already used in the industry.</a:t>
            </a:r>
            <a:br>
              <a:rPr lang="en-US" dirty="0"/>
            </a:br>
            <a:r>
              <a:rPr lang="en-US" b="1" dirty="0"/>
              <a:t>Where it's applicable:</a:t>
            </a:r>
            <a:r>
              <a:rPr lang="en-US" dirty="0"/>
              <a:t> Power utilities and grid asset-management teams.</a:t>
            </a:r>
            <a:br>
              <a:rPr lang="en-US" dirty="0"/>
            </a:br>
            <a:r>
              <a:rPr lang="en-US" b="1" dirty="0"/>
              <a:t>What it solves:</a:t>
            </a:r>
            <a:r>
              <a:rPr lang="en-US" dirty="0"/>
              <a:t> A data-driven read on the same gas data can outperform traditional threshold methods, catching faults before catastrophic failure.</a:t>
            </a:r>
            <a:br>
              <a:rPr lang="en-US" dirty="0"/>
            </a:br>
            <a:r>
              <a:rPr lang="en-US" b="1" dirty="0"/>
              <a:t>The dataset:</a:t>
            </a:r>
            <a:r>
              <a:rPr lang="en-US" dirty="0"/>
              <a:t> "Power Transformers FDD and RUL" (Kaggle, free, no institutional login) — used in a published 2026 study.</a:t>
            </a:r>
            <a:br>
              <a:rPr lang="en-US" dirty="0"/>
            </a:br>
            <a:r>
              <a:rPr lang="en-US" b="1" dirty="0"/>
              <a:t>Search:</a:t>
            </a:r>
            <a:r>
              <a:rPr lang="en-US" dirty="0"/>
              <a:t> "power-transformers-</a:t>
            </a:r>
            <a:r>
              <a:rPr lang="en-US" dirty="0" err="1"/>
              <a:t>fdd</a:t>
            </a:r>
            <a:r>
              <a:rPr lang="en-US" dirty="0"/>
              <a:t>-and-</a:t>
            </a:r>
            <a:r>
              <a:rPr lang="en-US" dirty="0" err="1"/>
              <a:t>rul</a:t>
            </a:r>
            <a:r>
              <a:rPr lang="en-US" dirty="0"/>
              <a:t> Kaggle" or "Power Transformers FDD and RUL"</a:t>
            </a:r>
            <a:br>
              <a:rPr lang="en-US" dirty="0"/>
            </a:br>
            <a:r>
              <a:rPr lang="en-US" b="1" dirty="0"/>
              <a:t>Worth noting:</a:t>
            </a:r>
            <a:r>
              <a:rPr lang="en-US" dirty="0"/>
              <a:t> Sounds the most technical but is one of the easiest, smallest, most tabular builds on the list.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279300-FA21-AB39-9B05-86230D944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534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F733A-8071-3030-07C9-1A32F1B2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276B8-80E0-1C8B-BBA9-B45DAD137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dirty="0"/>
              <a:t>RECOMMENDATION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7153AC-0B06-3003-DE14-52F765131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61" name="Content Placeholder 51">
            <a:extLst>
              <a:ext uri="{FF2B5EF4-FFF2-40B4-BE49-F238E27FC236}">
                <a16:creationId xmlns:a16="http://schemas.microsoft.com/office/drawing/2014/main" id="{5EA8133D-B186-9074-A9C7-71306D8BBE7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79127312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88579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2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733" y="2074339"/>
            <a:ext cx="7219954" cy="1828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 dirty="0">
                <a:solidFill>
                  <a:schemeClr val="tx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1406</TotalTime>
  <Words>1617</Words>
  <Application>Microsoft Office PowerPoint</Application>
  <PresentationFormat>Widescreen</PresentationFormat>
  <Paragraphs>67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Calibri</vt:lpstr>
      <vt:lpstr>Calisto MT</vt:lpstr>
      <vt:lpstr>Wingdings</vt:lpstr>
      <vt:lpstr>Wingdings 2</vt:lpstr>
      <vt:lpstr>Slate</vt:lpstr>
      <vt:lpstr>Lighting Talk 1</vt:lpstr>
      <vt:lpstr>Content</vt:lpstr>
      <vt:lpstr>Topic 1</vt:lpstr>
      <vt:lpstr>Topic 2</vt:lpstr>
      <vt:lpstr>Topic 3</vt:lpstr>
      <vt:lpstr>Topic 4</vt:lpstr>
      <vt:lpstr>Topic 5</vt:lpstr>
      <vt:lpstr>Topic 6</vt:lpstr>
      <vt:lpstr>Topic 7</vt:lpstr>
      <vt:lpstr>Topic 8</vt:lpstr>
      <vt:lpstr>Topic 9</vt:lpstr>
      <vt:lpstr>Topic 10</vt:lpstr>
      <vt:lpstr>Topic 11</vt:lpstr>
      <vt:lpstr>Topic 12</vt:lpstr>
      <vt:lpstr>RECOMMENDATION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عبدالله الشارقي</dc:creator>
  <cp:lastModifiedBy>عبدالله الشارقي</cp:lastModifiedBy>
  <cp:revision>28</cp:revision>
  <dcterms:created xsi:type="dcterms:W3CDTF">2026-07-12T13:08:14Z</dcterms:created>
  <dcterms:modified xsi:type="dcterms:W3CDTF">2026-07-25T16:40:25Z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